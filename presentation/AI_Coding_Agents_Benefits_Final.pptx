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4"/>
  </p:normalViewPr>
  <p:slideViewPr>
    <p:cSldViewPr snapToGrid="0">
      <p:cViewPr varScale="1">
        <p:scale>
          <a:sx n="114" d="100"/>
          <a:sy n="114" d="100"/>
        </p:scale>
        <p:origin x="4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Wumaier Kutelike</a:t>
            </a:r>
          </a:p>
          <a:p>
            <a:endParaRPr/>
          </a:p>
          <a:p>
            <a:r>
              <a:t>SCRIPT</a:t>
            </a:r>
          </a:p>
          <a:p>
            <a:r>
              <a:t>Hello, our names are Wumaier and Sebastian. Today, we will explain how AI coding agents are changing software development, including their practical uses, potential benefits, and risks.</a:t>
            </a:r>
          </a:p>
          <a:p>
            <a:endParaRPr/>
          </a:p>
          <a:p>
            <a:endParaRPr/>
          </a:p>
          <a:p>
            <a:r>
              <a:t>SOURCES AND CONTEXT (not spoken)</a:t>
            </a:r>
          </a:p>
          <a:p>
            <a:r>
              <a:t>Cover: AI-generated decorative illustration. It is not evidence of a real event.</a:t>
            </a:r>
          </a:p>
          <a:p>
            <a:r>
              <a:t>Accessed 17 October 2026 UTC.</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Wumaier Kutelike</a:t>
            </a:r>
          </a:p>
          <a:p>
            <a:endParaRPr/>
          </a:p>
          <a:p>
            <a:r>
              <a:t>SCRIPT</a:t>
            </a:r>
          </a:p>
          <a:p>
            <a:r>
              <a:t>On June 30, 2026, GitHub announced that Copilot Agent became available inside JetBrains AI Assistant. According to GitHub, developers can select Copilot from the agent picker, choose a supported model, and adjust the reasoning level. The agent can examine a project, propose changes, run commands, and work through multistep tasks.</a:t>
            </a:r>
          </a:p>
          <a:p>
            <a:endParaRPr/>
          </a:p>
          <a:p>
            <a:endParaRPr/>
          </a:p>
          <a:p>
            <a:r>
              <a:t>SOURCES AND CONTEXT (not spoken)</a:t>
            </a:r>
          </a:p>
          <a:p>
            <a:r>
              <a:t>GitHub Changelog, 30 June 2026. https://github.blog/changelog/2026-06-30-copilot-agent-is-now-available-in-jetbrains-ai-assistant/</a:t>
            </a:r>
          </a:p>
          <a:p>
            <a:r>
              <a:t>JetBrains, June 2026. https://blog.jetbrains.com/ai/2026/06/github-copilot-now-an-integrated-agent/</a:t>
            </a:r>
          </a:p>
          <a:p>
            <a:r>
              <a:t>Screenshot: https://admin.blog.jetbrains.com/wp-content/uploads/2026/06/image-24.png</a:t>
            </a:r>
          </a:p>
          <a:p>
            <a:r>
              <a:t>The event is native integration, not Copilot’s first availability in JetBrains. It previously existed through a plugin and ACP. The significance statement summarizes the announced IDE workflow, not a measured productivity effect.</a:t>
            </a:r>
          </a:p>
          <a:p>
            <a:r>
              <a:t>Accessed 17 October 2026 UTC.</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Wumaier Kutelike</a:t>
            </a:r>
          </a:p>
          <a:p>
            <a:endParaRPr/>
          </a:p>
          <a:p>
            <a:r>
              <a:t>SCRIPT</a:t>
            </a:r>
          </a:p>
          <a:p>
            <a:r>
              <a:t>For this presentation, an AI coding agent means an AI tool that uses project context and development tools to complete several steps toward a programming goal. It goes beyond simply suggesting the next line of code.</a:t>
            </a:r>
          </a:p>
          <a:p>
            <a:endParaRPr/>
          </a:p>
          <a:p>
            <a:endParaRPr/>
          </a:p>
          <a:p>
            <a:r>
              <a:t>SOURCES AND CONTEXT (not spoken)</a:t>
            </a:r>
          </a:p>
          <a:p>
            <a:r>
              <a:t>GitHub Docs. https://docs.github.com/en/copilot/how-tos/copilot-in-your-ide/use-copilot-agents/use-agent-mode</a:t>
            </a:r>
          </a:p>
          <a:p>
            <a:r>
              <a:t>https://docs.github.com/en/copilot/how-tos/copilot-in-your-ide/chat-with-copilot/chat-in-ide</a:t>
            </a:r>
          </a:p>
          <a:p>
            <a:r>
              <a:t>Comparison concerns inline autocomplete and an agent task workflow. Both can use context. Tool access and permissions vary by editor and settings.</a:t>
            </a:r>
          </a:p>
          <a:p>
            <a:r>
              <a:t>Accessed 17 October 2026 UTC.</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Wumaier Kutelike</a:t>
            </a:r>
          </a:p>
          <a:p>
            <a:endParaRPr/>
          </a:p>
          <a:p>
            <a:r>
              <a:t>SCRIPT</a:t>
            </a:r>
          </a:p>
          <a:p>
            <a:r>
              <a:t>For example, a developer can ask an agent to fix a small bug. The agent may inspect the project, suggest a change, run relevant commands, and revise its work after receiving feedback.</a:t>
            </a:r>
          </a:p>
          <a:p>
            <a:endParaRPr/>
          </a:p>
          <a:p>
            <a:endParaRPr/>
          </a:p>
          <a:p>
            <a:r>
              <a:t>SOURCES AND CONTEXT (not spoken)</a:t>
            </a:r>
          </a:p>
          <a:p>
            <a:r>
              <a:t>GitHub Docs. https://docs.github.com/en/copilot/how-tos/copilot-in-your-ide/use-copilot-agents/use-agent-mode</a:t>
            </a:r>
          </a:p>
          <a:p>
            <a:r>
              <a:t>The empty-input crash and regression test form an illustrative example created for explanation. No such bug fix was executed or measured by this presentation. An agent may propose commands, subject to its configured permissions.</a:t>
            </a:r>
          </a:p>
          <a:p>
            <a:r>
              <a:t>Accessed 17 October 2026 UTC.</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Wumaier Kutelike</a:t>
            </a:r>
          </a:p>
          <a:p>
            <a:endParaRPr/>
          </a:p>
          <a:p>
            <a:r>
              <a:t>SCRIPT</a:t>
            </a:r>
          </a:p>
          <a:p>
            <a:r>
              <a:t>Agents may also help with refactoring, writing tests, and updating documentation.</a:t>
            </a:r>
          </a:p>
          <a:p>
            <a:endParaRPr/>
          </a:p>
          <a:p>
            <a:r>
              <a:t>These capabilities may reduce repetitive work, provide developers with a useful starting point, and reduce switching between tools. However, these are potential benefits, not guaranteed improvements.</a:t>
            </a:r>
          </a:p>
          <a:p>
            <a:endParaRPr/>
          </a:p>
          <a:p>
            <a:r>
              <a:t>HANDOVER: continue directly to Sebastian’s risk section. No extra handover sentence is needed.</a:t>
            </a:r>
          </a:p>
          <a:p>
            <a:endParaRPr/>
          </a:p>
          <a:p>
            <a:r>
              <a:t>SOURCES AND CONTEXT (not spoken)</a:t>
            </a:r>
          </a:p>
          <a:p>
            <a:r>
              <a:t>GitHub Docs. https://docs.github.com/en/copilot/how-tos/copilot-in-your-ide/use-copilot-agents/use-agent-mode</a:t>
            </a:r>
          </a:p>
          <a:p>
            <a:r>
              <a:t>https://docs.github.com/en/copilot/how-tos/copilot-in-your-ide/chat-with-copilot/chat-in-ide</a:t>
            </a:r>
          </a:p>
          <a:p>
            <a:r>
              <a:t>The possible benefits are reasoned implications of supported workflows. They are not universal guarantees or a quantified speedup.</a:t>
            </a:r>
          </a:p>
          <a:p>
            <a:r>
              <a:t>Accessed 17 October 2026 UTC.</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Wumaier Kutelike</a:t>
            </a:r>
          </a:p>
          <a:p>
            <a:endParaRPr/>
          </a:p>
          <a:p>
            <a:r>
              <a:t>SCRIPT</a:t>
            </a:r>
          </a:p>
          <a:p>
            <a:endParaRPr/>
          </a:p>
          <a:p>
            <a:endParaRPr/>
          </a:p>
          <a:p>
            <a:r>
              <a:t>REFERENCE APPENDIX: hidden during slide show. No narration. When combining with Sebastian’s slides, keep this source page at the end of the final deck.</a:t>
            </a:r>
          </a:p>
          <a:p>
            <a:endParaRPr/>
          </a:p>
          <a:p>
            <a:r>
              <a:t>SOURCES AND CONTEXT (not spoken)</a:t>
            </a:r>
          </a:p>
          <a:p>
            <a:r>
              <a:t>https://github.blog/changelog/2026-06-30-copilot-agent-is-now-available-in-jetbrains-ai-assistant/</a:t>
            </a:r>
          </a:p>
          <a:p>
            <a:r>
              <a:t>https://blog.jetbrains.com/ai/2026/06/github-copilot-now-an-integrated-agent/</a:t>
            </a:r>
          </a:p>
          <a:p>
            <a:r>
              <a:t>https://docs.github.com/en/copilot/how-tos/copilot-in-your-ide/use-copilot-agents/use-agent-mode</a:t>
            </a:r>
          </a:p>
          <a:p>
            <a:r>
              <a:t>https://docs.github.com/en/copilot/how-tos/copilot-in-your-ide/chat-with-copilot/chat-in-ide</a:t>
            </a:r>
          </a:p>
          <a:p>
            <a:r>
              <a:t>https://admin.blog.jetbrains.com/wp-content/uploads/2026/06/image-24.png</a:t>
            </a:r>
          </a:p>
          <a:p>
            <a:r>
              <a:t>Cover image: AI-generated decorative art. JetBrains owns its product screenshot. No AI-generated voice is included.</a:t>
            </a:r>
          </a:p>
          <a:p>
            <a:r>
              <a:t>Accessed 17 October 2026 UTC.</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F9B27B5-630E-4F81-AB0D-0BA549450FB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CD60BA2E-506E-473E-B26C-B91515614C2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716936D-FB4C-4668-9E45-CAED50E298D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004E6B5-DBB9-4C64-8640-267602318FF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2EA6DC23-0FE1-4756-A506-AEA113C0EF8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117DC87-7FA6-47C0-A1BA-7ADADE86B68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862E8F47-2D32-41D2-AFE2-DF9DE0F8EC3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2E210294-0D2F-4799-B63B-ADA344C8330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F4EA1C3-7FE2-40BF-A689-0940D74FF5A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442CD02-19CB-4D50-A6FB-DE07527D036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62B"/>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CB8AC7D-971E-4654-983C-B6F222B6013E}"/>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course">
            <a:extLst>
              <a:ext uri="{FF2B5EF4-FFF2-40B4-BE49-F238E27FC236}">
                <a16:creationId xmlns:a16="http://schemas.microsoft.com/office/drawing/2014/main" id="{5915EA83-ADD4-41C3-99A5-EC86C325804C}"/>
              </a:ext>
            </a:extLst>
          </p:cNvPr>
          <p:cNvSpPr>
            <a:spLocks noGrp="1"/>
          </p:cNvSpPr>
          <p:nvPr/>
        </p:nvSpPr>
        <p:spPr>
          <a:xfrm>
            <a:off x="704850" y="552450"/>
            <a:ext cx="5905500" cy="304800"/>
          </a:xfrm>
          <a:prstGeom prst="rect">
            <a:avLst/>
          </a:prstGeom>
          <a:noFill/>
          <a:ln w="0">
            <a:noFill/>
            <a:prstDash val="solid"/>
          </a:ln>
        </p:spPr>
        <p:txBody>
          <a:bodyPr wrap="square" lIns="0" tIns="0" rIns="0" bIns="0" anchor="t">
            <a:noAutofit/>
          </a:bodyPr>
          <a:lstStyle>
            <a:defPPr algn="l">
              <a:defRPr sz="1575" b="1">
                <a:solidFill>
                  <a:srgbClr val="6CD8EC"/>
                </a:solidFill>
                <a:latin typeface="Nimbus Sans"/>
                <a:ea typeface="Nimbus Sans"/>
                <a:cs typeface="Nimbus Sans"/>
              </a:defRPr>
            </a:defPPr>
          </a:lstStyle>
          <a:p>
            <a:pPr algn="l">
              <a:defRPr sz="1575" b="1">
                <a:solidFill>
                  <a:srgbClr val="6CD8EC"/>
                </a:solidFill>
                <a:latin typeface="Nimbus Sans"/>
                <a:ea typeface="Nimbus Sans"/>
                <a:cs typeface="Nimbus Sans"/>
              </a:defRPr>
            </a:pPr>
            <a:r>
              <a:rPr sz="1575" b="1">
                <a:solidFill>
                  <a:srgbClr val="6CD8EC"/>
                </a:solidFill>
                <a:latin typeface="Nimbus Sans"/>
                <a:ea typeface="Nimbus Sans"/>
                <a:cs typeface="Nimbus Sans"/>
              </a:rPr>
              <a:t>CEP146   CURRENT EVENT</a:t>
            </a:r>
          </a:p>
        </p:txBody>
      </p:sp>
      <p:sp>
        <p:nvSpPr>
          <p:cNvPr id="3" name="headline">
            <a:extLst>
              <a:ext uri="{FF2B5EF4-FFF2-40B4-BE49-F238E27FC236}">
                <a16:creationId xmlns:a16="http://schemas.microsoft.com/office/drawing/2014/main" id="{A12B7DAF-93C2-4C03-A923-710597F9C2E2}"/>
              </a:ext>
            </a:extLst>
          </p:cNvPr>
          <p:cNvSpPr>
            <a:spLocks noGrp="1"/>
          </p:cNvSpPr>
          <p:nvPr/>
        </p:nvSpPr>
        <p:spPr>
          <a:xfrm>
            <a:off x="704850" y="1724025"/>
            <a:ext cx="5810250" cy="1771650"/>
          </a:xfrm>
          <a:prstGeom prst="rect">
            <a:avLst/>
          </a:prstGeom>
          <a:noFill/>
          <a:ln w="0">
            <a:noFill/>
            <a:prstDash val="solid"/>
          </a:ln>
        </p:spPr>
        <p:txBody>
          <a:bodyPr wrap="square" lIns="0" tIns="0" rIns="0" bIns="0" anchor="t">
            <a:noAutofit/>
          </a:bodyPr>
          <a:lstStyle>
            <a:defPPr algn="l">
              <a:defRPr sz="6150" b="1">
                <a:solidFill>
                  <a:srgbClr val="FFFFFF"/>
                </a:solidFill>
                <a:latin typeface="Nimbus Sans"/>
                <a:ea typeface="Nimbus Sans"/>
                <a:cs typeface="Nimbus Sans"/>
              </a:defRPr>
            </a:defPPr>
          </a:lstStyle>
          <a:p>
            <a:pPr algn="l">
              <a:lnSpc>
                <a:spcPct val="100000"/>
              </a:lnSpc>
              <a:buNone/>
              <a:defRPr sz="6150" b="1">
                <a:solidFill>
                  <a:srgbClr val="FFFFFF"/>
                </a:solidFill>
                <a:latin typeface="Nimbus Sans"/>
                <a:ea typeface="Nimbus Sans"/>
                <a:cs typeface="Nimbus Sans"/>
              </a:defRPr>
            </a:pPr>
            <a:r>
              <a:rPr sz="6150" b="1">
                <a:solidFill>
                  <a:srgbClr val="FFFFFF"/>
                </a:solidFill>
                <a:latin typeface="Nimbus Sans"/>
                <a:ea typeface="Nimbus Sans"/>
                <a:cs typeface="Nimbus Sans"/>
              </a:rPr>
              <a:t>AI coding</a:t>
            </a:r>
          </a:p>
          <a:p>
            <a:pPr algn="l">
              <a:lnSpc>
                <a:spcPct val="100000"/>
              </a:lnSpc>
              <a:buNone/>
              <a:defRPr sz="6150" b="1">
                <a:solidFill>
                  <a:srgbClr val="FFFFFF"/>
                </a:solidFill>
                <a:latin typeface="Nimbus Sans"/>
                <a:ea typeface="Nimbus Sans"/>
                <a:cs typeface="Nimbus Sans"/>
              </a:defRPr>
            </a:pPr>
            <a:r>
              <a:rPr sz="6150" b="1">
                <a:solidFill>
                  <a:srgbClr val="FFFFFF"/>
                </a:solidFill>
                <a:latin typeface="Nimbus Sans"/>
                <a:ea typeface="Nimbus Sans"/>
                <a:cs typeface="Nimbus Sans"/>
              </a:rPr>
              <a:t>agents</a:t>
            </a:r>
          </a:p>
        </p:txBody>
      </p:sp>
      <p:sp>
        <p:nvSpPr>
          <p:cNvPr id="4" name="subtitle">
            <a:extLst>
              <a:ext uri="{FF2B5EF4-FFF2-40B4-BE49-F238E27FC236}">
                <a16:creationId xmlns:a16="http://schemas.microsoft.com/office/drawing/2014/main" id="{5130AE52-759C-4DDF-8CB2-273D66370300}"/>
              </a:ext>
            </a:extLst>
          </p:cNvPr>
          <p:cNvSpPr>
            <a:spLocks noGrp="1"/>
          </p:cNvSpPr>
          <p:nvPr/>
        </p:nvSpPr>
        <p:spPr>
          <a:xfrm>
            <a:off x="742950" y="3705225"/>
            <a:ext cx="5619750" cy="990600"/>
          </a:xfrm>
          <a:prstGeom prst="rect">
            <a:avLst/>
          </a:prstGeom>
          <a:noFill/>
          <a:ln w="0">
            <a:noFill/>
            <a:prstDash val="solid"/>
          </a:ln>
        </p:spPr>
        <p:txBody>
          <a:bodyPr wrap="square" lIns="0" tIns="0" rIns="0" bIns="0" anchor="t">
            <a:noAutofit/>
          </a:bodyPr>
          <a:lstStyle>
            <a:defPPr algn="l">
              <a:defRPr sz="2850" b="0">
                <a:solidFill>
                  <a:srgbClr val="D8E7F1"/>
                </a:solidFill>
                <a:latin typeface="Nimbus Sans"/>
                <a:ea typeface="Nimbus Sans"/>
                <a:cs typeface="Nimbus Sans"/>
              </a:defRPr>
            </a:defPPr>
          </a:lstStyle>
          <a:p>
            <a:pPr algn="l">
              <a:lnSpc>
                <a:spcPct val="107000"/>
              </a:lnSpc>
              <a:buNone/>
              <a:defRPr sz="2850" b="0">
                <a:solidFill>
                  <a:srgbClr val="D8E7F1"/>
                </a:solidFill>
                <a:latin typeface="Nimbus Sans"/>
                <a:ea typeface="Nimbus Sans"/>
                <a:cs typeface="Nimbus Sans"/>
              </a:defRPr>
            </a:pPr>
            <a:r>
              <a:rPr sz="2850" b="0">
                <a:solidFill>
                  <a:srgbClr val="D8E7F1"/>
                </a:solidFill>
                <a:latin typeface="Nimbus Sans"/>
                <a:ea typeface="Nimbus Sans"/>
                <a:cs typeface="Nimbus Sans"/>
              </a:rPr>
              <a:t>How software development</a:t>
            </a:r>
          </a:p>
          <a:p>
            <a:pPr algn="l">
              <a:lnSpc>
                <a:spcPct val="107000"/>
              </a:lnSpc>
              <a:buNone/>
              <a:defRPr sz="2850" b="0">
                <a:solidFill>
                  <a:srgbClr val="D8E7F1"/>
                </a:solidFill>
                <a:latin typeface="Nimbus Sans"/>
                <a:ea typeface="Nimbus Sans"/>
                <a:cs typeface="Nimbus Sans"/>
              </a:defRPr>
            </a:pPr>
            <a:r>
              <a:rPr sz="2850" b="0">
                <a:solidFill>
                  <a:srgbClr val="D8E7F1"/>
                </a:solidFill>
                <a:latin typeface="Nimbus Sans"/>
                <a:ea typeface="Nimbus Sans"/>
                <a:cs typeface="Nimbus Sans"/>
              </a:rPr>
              <a:t>is changing</a:t>
            </a:r>
          </a:p>
        </p:txBody>
      </p:sp>
      <p:sp>
        <p:nvSpPr>
          <p:cNvPr id="5" name="presenters">
            <a:extLst>
              <a:ext uri="{FF2B5EF4-FFF2-40B4-BE49-F238E27FC236}">
                <a16:creationId xmlns:a16="http://schemas.microsoft.com/office/drawing/2014/main" id="{46E1ACF4-4971-4400-B903-91BA256577B9}"/>
              </a:ext>
            </a:extLst>
          </p:cNvPr>
          <p:cNvSpPr>
            <a:spLocks noGrp="1"/>
          </p:cNvSpPr>
          <p:nvPr/>
        </p:nvSpPr>
        <p:spPr>
          <a:xfrm>
            <a:off x="742950" y="5562600"/>
            <a:ext cx="5810250" cy="685800"/>
          </a:xfrm>
          <a:prstGeom prst="rect">
            <a:avLst/>
          </a:prstGeom>
          <a:noFill/>
          <a:ln w="0">
            <a:noFill/>
            <a:prstDash val="solid"/>
          </a:ln>
        </p:spPr>
        <p:txBody>
          <a:bodyPr wrap="square" lIns="0" tIns="0" rIns="0" bIns="0" anchor="t">
            <a:noAutofit/>
          </a:bodyPr>
          <a:lstStyle>
            <a:defPPr algn="l">
              <a:defRPr sz="2025" b="0">
                <a:solidFill>
                  <a:srgbClr val="FFFFFF"/>
                </a:solidFill>
                <a:latin typeface="Nimbus Sans"/>
                <a:ea typeface="Nimbus Sans"/>
                <a:cs typeface="Nimbus Sans"/>
              </a:defRPr>
            </a:defPPr>
          </a:lstStyle>
          <a:p>
            <a:pPr algn="l">
              <a:lnSpc>
                <a:spcPct val="116000"/>
              </a:lnSpc>
              <a:buNone/>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Wumaier Kutelike</a:t>
            </a:r>
          </a:p>
          <a:p>
            <a:pPr algn="l">
              <a:lnSpc>
                <a:spcPct val="116000"/>
              </a:lnSpc>
              <a:buNone/>
              <a:defRPr sz="2025" b="0">
                <a:solidFill>
                  <a:srgbClr val="FFFFFF"/>
                </a:solidFill>
                <a:latin typeface="Nimbus Sans"/>
                <a:ea typeface="Nimbus Sans"/>
                <a:cs typeface="Nimbus Sans"/>
              </a:defRPr>
            </a:pPr>
            <a:r>
              <a:rPr sz="2025" b="0">
                <a:solidFill>
                  <a:srgbClr val="FFFFFF"/>
                </a:solidFill>
                <a:latin typeface="Nimbus Sans"/>
                <a:ea typeface="Nimbus Sans"/>
                <a:cs typeface="Nimbus Sans"/>
              </a:rPr>
              <a:t>Sebastian Gonzalez</a:t>
            </a:r>
          </a:p>
        </p:txBody>
      </p:sp>
    </p:spTree>
    <p:extLst>
      <p:ext uri="{BB962C8B-B14F-4D97-AF65-F5344CB8AC3E}">
        <p14:creationId xmlns:p14="http://schemas.microsoft.com/office/powerpoint/2010/main" val="1451790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EE3902DA-D39D-4D69-836B-20E28F4661F1}"/>
              </a:ext>
            </a:extLst>
          </p:cNvPr>
          <p:cNvSpPr>
            <a:spLocks noGrp="1"/>
          </p:cNvSpPr>
          <p:nvPr/>
        </p:nvSpPr>
        <p:spPr>
          <a:xfrm>
            <a:off x="704850" y="581025"/>
            <a:ext cx="10782300" cy="647700"/>
          </a:xfrm>
          <a:prstGeom prst="rect">
            <a:avLst/>
          </a:prstGeom>
          <a:noFill/>
          <a:ln w="0">
            <a:noFill/>
            <a:prstDash val="solid"/>
          </a:ln>
        </p:spPr>
        <p:txBody>
          <a:bodyPr wrap="square" lIns="0" tIns="0" rIns="0" bIns="0" anchor="t">
            <a:noAutofit/>
          </a:bodyPr>
          <a:lstStyle>
            <a:defPPr algn="l">
              <a:defRPr sz="3975" b="1">
                <a:solidFill>
                  <a:srgbClr val="132439"/>
                </a:solidFill>
                <a:latin typeface="Nimbus Sans"/>
                <a:ea typeface="Nimbus Sans"/>
                <a:cs typeface="Nimbus Sans"/>
              </a:defRPr>
            </a:defPPr>
          </a:lstStyle>
          <a:p>
            <a:pPr algn="l">
              <a:defRPr sz="3975" b="1">
                <a:solidFill>
                  <a:srgbClr val="132439"/>
                </a:solidFill>
                <a:latin typeface="Nimbus Sans"/>
                <a:ea typeface="Nimbus Sans"/>
                <a:cs typeface="Nimbus Sans"/>
              </a:defRPr>
            </a:pPr>
            <a:r>
              <a:rPr sz="3975" b="1">
                <a:solidFill>
                  <a:srgbClr val="132439"/>
                </a:solidFill>
                <a:latin typeface="Nimbus Sans"/>
                <a:ea typeface="Nimbus Sans"/>
                <a:cs typeface="Nimbus Sans"/>
              </a:rPr>
              <a:t>Copilot in JetBrains</a:t>
            </a:r>
          </a:p>
        </p:txBody>
      </p:sp>
      <p:sp>
        <p:nvSpPr>
          <p:cNvPr id="2" name="event-date">
            <a:extLst>
              <a:ext uri="{FF2B5EF4-FFF2-40B4-BE49-F238E27FC236}">
                <a16:creationId xmlns:a16="http://schemas.microsoft.com/office/drawing/2014/main" id="{6C2DF617-9540-4AF7-945C-BCD645574086}"/>
              </a:ext>
            </a:extLst>
          </p:cNvPr>
          <p:cNvSpPr>
            <a:spLocks noGrp="1"/>
          </p:cNvSpPr>
          <p:nvPr/>
        </p:nvSpPr>
        <p:spPr>
          <a:xfrm>
            <a:off x="723900" y="1543050"/>
            <a:ext cx="5238750" cy="381000"/>
          </a:xfrm>
          <a:prstGeom prst="rect">
            <a:avLst/>
          </a:prstGeom>
          <a:noFill/>
          <a:ln w="0">
            <a:noFill/>
            <a:prstDash val="solid"/>
          </a:ln>
        </p:spPr>
        <p:txBody>
          <a:bodyPr wrap="square" lIns="0" tIns="0" rIns="0" bIns="0" anchor="t">
            <a:noAutofit/>
          </a:bodyPr>
          <a:lstStyle>
            <a:defPPr algn="l">
              <a:defRPr sz="2175" b="1">
                <a:solidFill>
                  <a:srgbClr val="087F8C"/>
                </a:solidFill>
                <a:latin typeface="Nimbus Sans"/>
                <a:ea typeface="Nimbus Sans"/>
                <a:cs typeface="Nimbus Sans"/>
              </a:defRPr>
            </a:defPPr>
          </a:lstStyle>
          <a:p>
            <a:pPr algn="l">
              <a:defRPr sz="2175" b="1">
                <a:solidFill>
                  <a:srgbClr val="087F8C"/>
                </a:solidFill>
                <a:latin typeface="Nimbus Sans"/>
                <a:ea typeface="Nimbus Sans"/>
                <a:cs typeface="Nimbus Sans"/>
              </a:defRPr>
            </a:pPr>
            <a:r>
              <a:rPr sz="2175" b="1">
                <a:solidFill>
                  <a:srgbClr val="087F8C"/>
                </a:solidFill>
                <a:latin typeface="Nimbus Sans"/>
                <a:ea typeface="Nimbus Sans"/>
                <a:cs typeface="Nimbus Sans"/>
              </a:rPr>
              <a:t>30 June 2026</a:t>
            </a:r>
          </a:p>
        </p:txBody>
      </p:sp>
      <p:sp>
        <p:nvSpPr>
          <p:cNvPr id="3" name="event-change">
            <a:extLst>
              <a:ext uri="{FF2B5EF4-FFF2-40B4-BE49-F238E27FC236}">
                <a16:creationId xmlns:a16="http://schemas.microsoft.com/office/drawing/2014/main" id="{F115C83E-5B4F-4CD3-96DD-E0951E36421B}"/>
              </a:ext>
            </a:extLst>
          </p:cNvPr>
          <p:cNvSpPr>
            <a:spLocks noGrp="1"/>
          </p:cNvSpPr>
          <p:nvPr/>
        </p:nvSpPr>
        <p:spPr>
          <a:xfrm>
            <a:off x="704850" y="2171700"/>
            <a:ext cx="5238750" cy="1066800"/>
          </a:xfrm>
          <a:prstGeom prst="rect">
            <a:avLst/>
          </a:prstGeom>
          <a:noFill/>
          <a:ln w="0">
            <a:noFill/>
            <a:prstDash val="solid"/>
          </a:ln>
        </p:spPr>
        <p:txBody>
          <a:bodyPr wrap="square" lIns="0" tIns="0" rIns="0" bIns="0" anchor="t">
            <a:noAutofit/>
          </a:bodyPr>
          <a:lstStyle>
            <a:defPPr algn="l">
              <a:defRPr sz="2700" b="1">
                <a:solidFill>
                  <a:srgbClr val="132439"/>
                </a:solidFill>
                <a:latin typeface="Nimbus Sans"/>
                <a:ea typeface="Nimbus Sans"/>
                <a:cs typeface="Nimbus Sans"/>
              </a:defRPr>
            </a:defPPr>
          </a:lstStyle>
          <a:p>
            <a:pPr algn="l">
              <a:lnSpc>
                <a:spcPct val="107000"/>
              </a:lnSpc>
              <a:buNone/>
              <a:defRPr sz="2700" b="1">
                <a:solidFill>
                  <a:srgbClr val="132439"/>
                </a:solidFill>
                <a:latin typeface="Nimbus Sans"/>
                <a:ea typeface="Nimbus Sans"/>
                <a:cs typeface="Nimbus Sans"/>
              </a:defRPr>
            </a:pPr>
            <a:r>
              <a:rPr sz="2700" b="1">
                <a:solidFill>
                  <a:srgbClr val="132439"/>
                </a:solidFill>
                <a:latin typeface="Nimbus Sans"/>
                <a:ea typeface="Nimbus Sans"/>
                <a:cs typeface="Nimbus Sans"/>
              </a:rPr>
              <a:t>Copilot becomes a native</a:t>
            </a:r>
          </a:p>
          <a:p>
            <a:pPr algn="l">
              <a:lnSpc>
                <a:spcPct val="107000"/>
              </a:lnSpc>
              <a:buNone/>
              <a:defRPr sz="2700" b="1">
                <a:solidFill>
                  <a:srgbClr val="132439"/>
                </a:solidFill>
                <a:latin typeface="Nimbus Sans"/>
                <a:ea typeface="Nimbus Sans"/>
                <a:cs typeface="Nimbus Sans"/>
              </a:defRPr>
            </a:pPr>
            <a:r>
              <a:rPr sz="2700" b="1">
                <a:solidFill>
                  <a:srgbClr val="132439"/>
                </a:solidFill>
                <a:latin typeface="Nimbus Sans"/>
                <a:ea typeface="Nimbus Sans"/>
                <a:cs typeface="Nimbus Sans"/>
              </a:rPr>
              <a:t>AI Assistant agent option</a:t>
            </a:r>
          </a:p>
        </p:txBody>
      </p:sp>
      <p:sp>
        <p:nvSpPr>
          <p:cNvPr id="4" name="event-description">
            <a:extLst>
              <a:ext uri="{FF2B5EF4-FFF2-40B4-BE49-F238E27FC236}">
                <a16:creationId xmlns:a16="http://schemas.microsoft.com/office/drawing/2014/main" id="{B6DB526D-F441-4114-A288-D363582314FC}"/>
              </a:ext>
            </a:extLst>
          </p:cNvPr>
          <p:cNvSpPr>
            <a:spLocks noGrp="1"/>
          </p:cNvSpPr>
          <p:nvPr/>
        </p:nvSpPr>
        <p:spPr>
          <a:xfrm>
            <a:off x="723900" y="3476625"/>
            <a:ext cx="5143500" cy="1133475"/>
          </a:xfrm>
          <a:prstGeom prst="rect">
            <a:avLst/>
          </a:prstGeom>
          <a:noFill/>
          <a:ln w="0">
            <a:noFill/>
            <a:prstDash val="solid"/>
          </a:ln>
        </p:spPr>
        <p:txBody>
          <a:bodyPr wrap="square" lIns="0" tIns="0" rIns="0" bIns="0" anchor="t">
            <a:noAutofit/>
          </a:bodyPr>
          <a:lstStyle>
            <a:defPPr algn="l">
              <a:defRPr sz="2175" b="0">
                <a:solidFill>
                  <a:srgbClr val="536477"/>
                </a:solidFill>
                <a:latin typeface="Nimbus Sans"/>
                <a:ea typeface="Nimbus Sans"/>
                <a:cs typeface="Nimbus Sans"/>
              </a:defRPr>
            </a:defPPr>
          </a:lstStyle>
          <a:p>
            <a:pPr algn="l">
              <a:lnSpc>
                <a:spcPct val="120000"/>
              </a:lnSpc>
              <a:buNone/>
              <a:defRPr sz="2175" b="0">
                <a:solidFill>
                  <a:srgbClr val="536477"/>
                </a:solidFill>
                <a:latin typeface="Nimbus Sans"/>
                <a:ea typeface="Nimbus Sans"/>
                <a:cs typeface="Nimbus Sans"/>
              </a:defRPr>
            </a:pPr>
            <a:r>
              <a:rPr sz="2175" b="0">
                <a:solidFill>
                  <a:srgbClr val="536477"/>
                </a:solidFill>
                <a:latin typeface="Nimbus Sans"/>
                <a:ea typeface="Nimbus Sans"/>
                <a:cs typeface="Nimbus Sans"/>
              </a:rPr>
              <a:t>Choose a supported model</a:t>
            </a:r>
          </a:p>
          <a:p>
            <a:pPr algn="l">
              <a:lnSpc>
                <a:spcPct val="120000"/>
              </a:lnSpc>
              <a:buNone/>
              <a:defRPr sz="2175" b="0">
                <a:solidFill>
                  <a:srgbClr val="536477"/>
                </a:solidFill>
                <a:latin typeface="Nimbus Sans"/>
                <a:ea typeface="Nimbus Sans"/>
                <a:cs typeface="Nimbus Sans"/>
              </a:defRPr>
            </a:pPr>
            <a:r>
              <a:rPr sz="2175" b="0">
                <a:solidFill>
                  <a:srgbClr val="536477"/>
                </a:solidFill>
                <a:latin typeface="Nimbus Sans"/>
                <a:ea typeface="Nimbus Sans"/>
                <a:cs typeface="Nimbus Sans"/>
              </a:rPr>
              <a:t>and adjust reasoning depth</a:t>
            </a:r>
          </a:p>
          <a:p>
            <a:pPr algn="l">
              <a:lnSpc>
                <a:spcPct val="120000"/>
              </a:lnSpc>
              <a:buNone/>
              <a:defRPr sz="2175" b="0">
                <a:solidFill>
                  <a:srgbClr val="536477"/>
                </a:solidFill>
                <a:latin typeface="Nimbus Sans"/>
                <a:ea typeface="Nimbus Sans"/>
                <a:cs typeface="Nimbus Sans"/>
              </a:defRPr>
            </a:pPr>
            <a:r>
              <a:rPr sz="2175" b="0">
                <a:solidFill>
                  <a:srgbClr val="536477"/>
                </a:solidFill>
                <a:latin typeface="Nimbus Sans"/>
                <a:ea typeface="Nimbus Sans"/>
                <a:cs typeface="Nimbus Sans"/>
              </a:rPr>
              <a:t>inside the same AI chat.</a:t>
            </a:r>
          </a:p>
        </p:txBody>
      </p:sp>
      <p:sp>
        <p:nvSpPr>
          <p:cNvPr id="5" name="event-nuance">
            <a:extLst>
              <a:ext uri="{FF2B5EF4-FFF2-40B4-BE49-F238E27FC236}">
                <a16:creationId xmlns:a16="http://schemas.microsoft.com/office/drawing/2014/main" id="{87485F45-2E4F-4C67-BB52-06B9BD8A187A}"/>
              </a:ext>
            </a:extLst>
          </p:cNvPr>
          <p:cNvSpPr>
            <a:spLocks noGrp="1"/>
          </p:cNvSpPr>
          <p:nvPr/>
        </p:nvSpPr>
        <p:spPr>
          <a:xfrm>
            <a:off x="723900" y="4991100"/>
            <a:ext cx="5219700" cy="857250"/>
          </a:xfrm>
          <a:prstGeom prst="rect">
            <a:avLst/>
          </a:prstGeom>
          <a:noFill/>
          <a:ln w="0">
            <a:noFill/>
            <a:prstDash val="solid"/>
          </a:ln>
        </p:spPr>
        <p:txBody>
          <a:bodyPr wrap="square" lIns="0" tIns="0" rIns="0" bIns="0" anchor="t">
            <a:noAutofit/>
          </a:bodyPr>
          <a:lstStyle>
            <a:defPPr algn="l">
              <a:defRPr sz="1950" b="1">
                <a:solidFill>
                  <a:srgbClr val="087F8C"/>
                </a:solidFill>
                <a:latin typeface="Nimbus Sans"/>
                <a:ea typeface="Nimbus Sans"/>
                <a:cs typeface="Nimbus Sans"/>
              </a:defRPr>
            </a:defPPr>
          </a:lstStyle>
          <a:p>
            <a:pPr algn="l">
              <a:defRPr sz="1950" b="1">
                <a:solidFill>
                  <a:srgbClr val="087F8C"/>
                </a:solidFill>
                <a:latin typeface="Nimbus Sans"/>
                <a:ea typeface="Nimbus Sans"/>
                <a:cs typeface="Nimbus Sans"/>
              </a:defRPr>
            </a:pPr>
            <a:r>
              <a:rPr sz="1950" b="1">
                <a:solidFill>
                  <a:srgbClr val="087F8C"/>
                </a:solidFill>
                <a:latin typeface="Nimbus Sans"/>
                <a:ea typeface="Nimbus Sans"/>
                <a:cs typeface="Nimbus Sans"/>
              </a:rPr>
              <a:t>Why it matters</a:t>
            </a:r>
          </a:p>
          <a:p>
            <a:pPr algn="l">
              <a:defRPr sz="1950" b="1">
                <a:solidFill>
                  <a:srgbClr val="087F8C"/>
                </a:solidFill>
                <a:latin typeface="Nimbus Sans"/>
                <a:ea typeface="Nimbus Sans"/>
                <a:cs typeface="Nimbus Sans"/>
              </a:defRPr>
            </a:pPr>
            <a:r>
              <a:rPr sz="1950" b="1">
                <a:solidFill>
                  <a:srgbClr val="087F8C"/>
                </a:solidFill>
                <a:latin typeface="Nimbus Sans"/>
                <a:ea typeface="Nimbus Sans"/>
                <a:cs typeface="Nimbus Sans"/>
              </a:rPr>
              <a:t>Multistep coding work stays in the IDE.</a:t>
            </a:r>
          </a:p>
        </p:txBody>
      </p:sp>
      <p:pic>
        <p:nvPicPr>
          <p:cNvPr id="6" name="Picture 5">
            <a:extLst>
              <a:ext uri="{FF2B5EF4-FFF2-40B4-BE49-F238E27FC236}">
                <a16:creationId xmlns:a16="http://schemas.microsoft.com/office/drawing/2014/main" id="{F23E9374-DE0C-4192-9843-BA7E330829A0}"/>
              </a:ext>
            </a:extLst>
          </p:cNvPr>
          <p:cNvPicPr>
            <a:picLocks noChangeAspect="1"/>
          </p:cNvPicPr>
          <p:nvPr/>
        </p:nvPicPr>
        <p:blipFill>
          <a:blip r:embed="rId3"/>
          <a:srcRect l="12500" t="33000" r="40500" b="14500"/>
          <a:stretch/>
        </p:blipFill>
        <p:spPr>
          <a:xfrm>
            <a:off x="6496050" y="1885950"/>
            <a:ext cx="4991100" cy="4124325"/>
          </a:xfrm>
          <a:prstGeom prst="rect">
            <a:avLst/>
          </a:prstGeom>
        </p:spPr>
      </p:pic>
      <p:sp>
        <p:nvSpPr>
          <p:cNvPr id="7" name="source">
            <a:extLst>
              <a:ext uri="{FF2B5EF4-FFF2-40B4-BE49-F238E27FC236}">
                <a16:creationId xmlns:a16="http://schemas.microsoft.com/office/drawing/2014/main" id="{D1741F72-243B-4FB9-8327-E54268C4A2D5}"/>
              </a:ext>
            </a:extLst>
          </p:cNvPr>
          <p:cNvSpPr>
            <a:spLocks noGrp="1"/>
          </p:cNvSpPr>
          <p:nvPr/>
        </p:nvSpPr>
        <p:spPr>
          <a:xfrm>
            <a:off x="704850" y="6324600"/>
            <a:ext cx="10477500" cy="247650"/>
          </a:xfrm>
          <a:prstGeom prst="rect">
            <a:avLst/>
          </a:prstGeom>
          <a:noFill/>
          <a:ln w="0">
            <a:noFill/>
            <a:prstDash val="solid"/>
          </a:ln>
        </p:spPr>
        <p:txBody>
          <a:bodyPr wrap="square" lIns="0" tIns="0" rIns="0" bIns="0" anchor="t">
            <a:noAutofit/>
          </a:bodyPr>
          <a:lstStyle>
            <a:defPPr algn="l">
              <a:defRPr sz="1275" b="0">
                <a:solidFill>
                  <a:srgbClr val="536477"/>
                </a:solidFill>
                <a:latin typeface="Nimbus Sans"/>
                <a:ea typeface="Nimbus Sans"/>
                <a:cs typeface="Nimbus Sans"/>
              </a:defRPr>
            </a:defPPr>
          </a:lstStyle>
          <a:p>
            <a:pPr algn="l">
              <a:defRPr sz="1275" b="0">
                <a:solidFill>
                  <a:srgbClr val="536477"/>
                </a:solidFill>
                <a:latin typeface="Nimbus Sans"/>
                <a:ea typeface="Nimbus Sans"/>
                <a:cs typeface="Nimbus Sans"/>
              </a:defRPr>
            </a:pPr>
            <a:r>
              <a:rPr sz="1275" b="0">
                <a:solidFill>
                  <a:srgbClr val="536477"/>
                </a:solidFill>
                <a:latin typeface="Nimbus Sans"/>
                <a:ea typeface="Nimbus Sans"/>
                <a:cs typeface="Nimbus Sans"/>
              </a:rPr>
              <a:t>Sources: GitHub Changelog (30 June 2026) and JetBrains product screenshot</a:t>
            </a:r>
          </a:p>
        </p:txBody>
      </p:sp>
    </p:spTree>
    <p:extLst>
      <p:ext uri="{BB962C8B-B14F-4D97-AF65-F5344CB8AC3E}">
        <p14:creationId xmlns:p14="http://schemas.microsoft.com/office/powerpoint/2010/main" val="678557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D62E74E-ECA3-4744-A06F-B3312907B373}"/>
              </a:ext>
            </a:extLst>
          </p:cNvPr>
          <p:cNvSpPr>
            <a:spLocks noGrp="1"/>
          </p:cNvSpPr>
          <p:nvPr/>
        </p:nvSpPr>
        <p:spPr>
          <a:xfrm>
            <a:off x="704850" y="581025"/>
            <a:ext cx="10782300" cy="647700"/>
          </a:xfrm>
          <a:prstGeom prst="rect">
            <a:avLst/>
          </a:prstGeom>
          <a:noFill/>
          <a:ln w="0">
            <a:noFill/>
            <a:prstDash val="solid"/>
          </a:ln>
        </p:spPr>
        <p:txBody>
          <a:bodyPr wrap="square" lIns="0" tIns="0" rIns="0" bIns="0" anchor="t">
            <a:noAutofit/>
          </a:bodyPr>
          <a:lstStyle>
            <a:defPPr algn="l">
              <a:defRPr sz="3750" b="1">
                <a:solidFill>
                  <a:srgbClr val="132439"/>
                </a:solidFill>
                <a:latin typeface="Nimbus Sans"/>
                <a:ea typeface="Nimbus Sans"/>
                <a:cs typeface="Nimbus Sans"/>
              </a:defRPr>
            </a:defPPr>
          </a:lstStyle>
          <a:p>
            <a:pPr algn="l">
              <a:defRPr sz="3750" b="1">
                <a:solidFill>
                  <a:srgbClr val="132439"/>
                </a:solidFill>
                <a:latin typeface="Nimbus Sans"/>
                <a:ea typeface="Nimbus Sans"/>
                <a:cs typeface="Nimbus Sans"/>
              </a:defRPr>
            </a:pPr>
            <a:r>
              <a:rPr sz="3750" b="1">
                <a:solidFill>
                  <a:srgbClr val="132439"/>
                </a:solidFill>
                <a:latin typeface="Nimbus Sans"/>
                <a:ea typeface="Nimbus Sans"/>
                <a:cs typeface="Nimbus Sans"/>
              </a:rPr>
              <a:t>Autocomplete and coding agents</a:t>
            </a:r>
          </a:p>
        </p:txBody>
      </p:sp>
      <p:sp>
        <p:nvSpPr>
          <p:cNvPr id="2" name="definition">
            <a:extLst>
              <a:ext uri="{FF2B5EF4-FFF2-40B4-BE49-F238E27FC236}">
                <a16:creationId xmlns:a16="http://schemas.microsoft.com/office/drawing/2014/main" id="{6DE98640-C02C-4208-861E-6BA8600D5F35}"/>
              </a:ext>
            </a:extLst>
          </p:cNvPr>
          <p:cNvSpPr>
            <a:spLocks noGrp="1"/>
          </p:cNvSpPr>
          <p:nvPr/>
        </p:nvSpPr>
        <p:spPr>
          <a:xfrm>
            <a:off x="723900" y="1457325"/>
            <a:ext cx="10553700" cy="704850"/>
          </a:xfrm>
          <a:prstGeom prst="rect">
            <a:avLst/>
          </a:prstGeom>
          <a:noFill/>
          <a:ln w="0">
            <a:noFill/>
            <a:prstDash val="solid"/>
          </a:ln>
        </p:spPr>
        <p:txBody>
          <a:bodyPr wrap="square" lIns="0" tIns="0" rIns="0" bIns="0" anchor="t">
            <a:noAutofit/>
          </a:bodyPr>
          <a:lstStyle>
            <a:defPPr algn="l">
              <a:defRPr sz="2175" b="0">
                <a:solidFill>
                  <a:srgbClr val="536477"/>
                </a:solidFill>
                <a:latin typeface="Nimbus Sans"/>
                <a:ea typeface="Nimbus Sans"/>
                <a:cs typeface="Nimbus Sans"/>
              </a:defRPr>
            </a:defPPr>
          </a:lstStyle>
          <a:p>
            <a:pPr algn="l">
              <a:defRPr sz="2175" b="0">
                <a:solidFill>
                  <a:srgbClr val="536477"/>
                </a:solidFill>
                <a:latin typeface="Nimbus Sans"/>
                <a:ea typeface="Nimbus Sans"/>
                <a:cs typeface="Nimbus Sans"/>
              </a:defRPr>
            </a:pPr>
            <a:r>
              <a:rPr sz="2175" b="0">
                <a:solidFill>
                  <a:srgbClr val="536477"/>
                </a:solidFill>
                <a:latin typeface="Nimbus Sans"/>
                <a:ea typeface="Nimbus Sans"/>
                <a:cs typeface="Nimbus Sans"/>
              </a:rPr>
              <a:t>An agent uses project context and tools to pursue a programming goal</a:t>
            </a:r>
          </a:p>
        </p:txBody>
      </p:sp>
      <p:graphicFrame>
        <p:nvGraphicFramePr>
          <p:cNvPr id="3" name="Table 2">
            <a:extLst>
              <a:ext uri="{FF2B5EF4-FFF2-40B4-BE49-F238E27FC236}">
                <a16:creationId xmlns:a16="http://schemas.microsoft.com/office/drawing/2014/main" id="{25D9DF71-3FC7-458D-96D1-3C108949E3CC}"/>
              </a:ext>
            </a:extLst>
          </p:cNvPr>
          <p:cNvGraphicFramePr/>
          <p:nvPr/>
        </p:nvGraphicFramePr>
        <p:xfrm>
          <a:off x="704850" y="2419350"/>
          <a:ext cx="10782300" cy="3105150"/>
        </p:xfrm>
        <a:graphic>
          <a:graphicData uri="http://schemas.openxmlformats.org/drawingml/2006/table">
            <a:tbl>
              <a:tblPr/>
              <a:tblGrid>
                <a:gridCol w="2190750">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543425">
                  <a:extLst>
                    <a:ext uri="{9D8B030D-6E8A-4147-A177-3AD203B41FA5}">
                      <a16:colId xmlns:a16="http://schemas.microsoft.com/office/drawing/2014/main" val="20002"/>
                    </a:ext>
                  </a:extLst>
                </a:gridCol>
              </a:tblGrid>
              <a:tr h="704850">
                <a:tc>
                  <a:txBody>
                    <a:bodyPr/>
                    <a:lstStyle/>
                    <a:p>
                      <a:pPr algn="l"/>
                      <a:r>
                        <a:rPr sz="2175" b="1">
                          <a:solidFill>
                            <a:srgbClr val="FFFFFF"/>
                          </a:solidFill>
                          <a:latin typeface="Nimbus Sans"/>
                          <a:ea typeface="Nimbus Sans"/>
                          <a:cs typeface="Nimbus Sans"/>
                        </a:rPr>
                        <a:t>Feature</a:t>
                      </a:r>
                    </a:p>
                  </a:txBody>
                  <a:tcPr anchor="ctr">
                    <a:lnL w="28575">
                      <a:solidFill>
                        <a:srgbClr val="F4F7F8"/>
                      </a:solidFill>
                      <a:prstDash val="solid"/>
                    </a:lnL>
                    <a:lnR w="28575">
                      <a:solidFill>
                        <a:srgbClr val="F4F7F8"/>
                      </a:solidFill>
                      <a:prstDash val="solid"/>
                    </a:lnR>
                    <a:lnT w="28575">
                      <a:solidFill>
                        <a:srgbClr val="F4F7F8"/>
                      </a:solidFill>
                      <a:prstDash val="solid"/>
                    </a:lnT>
                    <a:lnB w="28575">
                      <a:solidFill>
                        <a:srgbClr val="F4F7F8"/>
                      </a:solidFill>
                      <a:prstDash val="solid"/>
                    </a:lnB>
                    <a:solidFill>
                      <a:srgbClr val="0B162B"/>
                    </a:solidFill>
                  </a:tcPr>
                </a:tc>
                <a:tc>
                  <a:txBody>
                    <a:bodyPr/>
                    <a:lstStyle/>
                    <a:p>
                      <a:pPr algn="l"/>
                      <a:r>
                        <a:rPr sz="2175" b="1">
                          <a:solidFill>
                            <a:srgbClr val="FFFFFF"/>
                          </a:solidFill>
                          <a:latin typeface="Nimbus Sans"/>
                          <a:ea typeface="Nimbus Sans"/>
                          <a:cs typeface="Nimbus Sans"/>
                        </a:rPr>
                        <a:t>Autocomplete</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a:solidFill>
                        <a:srgbClr val="F4F7F8"/>
                      </a:solidFill>
                      <a:prstDash val="solid"/>
                    </a:lnT>
                    <a:lnB w="28575">
                      <a:solidFill>
                        <a:srgbClr val="F4F7F8"/>
                      </a:solidFill>
                      <a:prstDash val="solid"/>
                    </a:lnB>
                    <a:solidFill>
                      <a:srgbClr val="0B162B"/>
                    </a:solidFill>
                  </a:tcPr>
                </a:tc>
                <a:tc>
                  <a:txBody>
                    <a:bodyPr/>
                    <a:lstStyle/>
                    <a:p>
                      <a:pPr algn="l"/>
                      <a:r>
                        <a:rPr sz="2175" b="1">
                          <a:solidFill>
                            <a:srgbClr val="FFFFFF"/>
                          </a:solidFill>
                          <a:latin typeface="Nimbus Sans"/>
                          <a:ea typeface="Nimbus Sans"/>
                          <a:cs typeface="Nimbus Sans"/>
                        </a:rPr>
                        <a:t>Coding agent</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a:solidFill>
                        <a:srgbClr val="F4F7F8"/>
                      </a:solidFill>
                      <a:prstDash val="solid"/>
                    </a:lnT>
                    <a:lnB w="28575">
                      <a:solidFill>
                        <a:srgbClr val="F4F7F8"/>
                      </a:solidFill>
                      <a:prstDash val="solid"/>
                    </a:lnB>
                    <a:solidFill>
                      <a:srgbClr val="0B162B"/>
                    </a:solidFill>
                  </a:tcPr>
                </a:tc>
                <a:extLst>
                  <a:ext uri="{0D108BD9-81ED-4DB2-BD59-A6C34878D82A}">
                    <a16:rowId xmlns:a16="http://schemas.microsoft.com/office/drawing/2014/main" val="10000"/>
                  </a:ext>
                </a:extLst>
              </a:tr>
              <a:tr h="800100">
                <a:tc>
                  <a:txBody>
                    <a:bodyPr/>
                    <a:lstStyle/>
                    <a:p>
                      <a:pPr algn="l"/>
                      <a:r>
                        <a:rPr sz="1875" b="1">
                          <a:solidFill>
                            <a:srgbClr val="536477"/>
                          </a:solidFill>
                          <a:latin typeface="Nimbus Sans"/>
                          <a:ea typeface="Nimbus Sans"/>
                          <a:cs typeface="Nimbus Sans"/>
                        </a:rPr>
                        <a:t>Main request</a:t>
                      </a:r>
                    </a:p>
                  </a:txBody>
                  <a:tcPr anchor="ctr">
                    <a:lnL w="28575">
                      <a:solidFill>
                        <a:srgbClr val="F4F7F8"/>
                      </a:solidFill>
                      <a:prstDash val="soli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FFFFFF"/>
                    </a:solidFill>
                  </a:tcPr>
                </a:tc>
                <a:tc>
                  <a:txBody>
                    <a:bodyPr/>
                    <a:lstStyle/>
                    <a:p>
                      <a:pPr algn="l"/>
                      <a:r>
                        <a:rPr sz="1875" b="0">
                          <a:solidFill>
                            <a:srgbClr val="536477"/>
                          </a:solidFill>
                          <a:latin typeface="Nimbus Sans"/>
                          <a:ea typeface="Nimbus Sans"/>
                          <a:cs typeface="Nimbus Sans"/>
                        </a:rPr>
                        <a:t>Continue the code</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FFFFFF"/>
                    </a:solidFill>
                  </a:tcPr>
                </a:tc>
                <a:tc>
                  <a:txBody>
                    <a:bodyPr/>
                    <a:lstStyle/>
                    <a:p>
                      <a:pPr algn="l"/>
                      <a:r>
                        <a:rPr sz="1875" b="0">
                          <a:solidFill>
                            <a:srgbClr val="132439"/>
                          </a:solidFill>
                          <a:latin typeface="Nimbus Sans"/>
                          <a:ea typeface="Nimbus Sans"/>
                          <a:cs typeface="Nimbus Sans"/>
                        </a:rPr>
                        <a:t>Complete a programming task</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E7F3F5"/>
                    </a:solidFill>
                  </a:tcPr>
                </a:tc>
                <a:extLst>
                  <a:ext uri="{0D108BD9-81ED-4DB2-BD59-A6C34878D82A}">
                    <a16:rowId xmlns:a16="http://schemas.microsoft.com/office/drawing/2014/main" val="10001"/>
                  </a:ext>
                </a:extLst>
              </a:tr>
              <a:tr h="800100">
                <a:tc>
                  <a:txBody>
                    <a:bodyPr/>
                    <a:lstStyle/>
                    <a:p>
                      <a:pPr algn="l"/>
                      <a:r>
                        <a:rPr sz="1875" b="1">
                          <a:solidFill>
                            <a:srgbClr val="536477"/>
                          </a:solidFill>
                          <a:latin typeface="Nimbus Sans"/>
                          <a:ea typeface="Nimbus Sans"/>
                          <a:cs typeface="Nimbus Sans"/>
                        </a:rPr>
                        <a:t>Typical output</a:t>
                      </a:r>
                    </a:p>
                  </a:txBody>
                  <a:tcPr anchor="ctr">
                    <a:lnL w="28575">
                      <a:solidFill>
                        <a:srgbClr val="F4F7F8"/>
                      </a:solidFill>
                      <a:prstDash val="soli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FFFFFF"/>
                    </a:solidFill>
                  </a:tcPr>
                </a:tc>
                <a:tc>
                  <a:txBody>
                    <a:bodyPr/>
                    <a:lstStyle/>
                    <a:p>
                      <a:pPr algn="l"/>
                      <a:r>
                        <a:rPr sz="1875" b="0">
                          <a:solidFill>
                            <a:srgbClr val="536477"/>
                          </a:solidFill>
                          <a:latin typeface="Nimbus Sans"/>
                          <a:ea typeface="Nimbus Sans"/>
                          <a:cs typeface="Nimbus Sans"/>
                        </a:rPr>
                        <a:t>Suggests a line or block</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FFFFFF"/>
                    </a:solidFill>
                  </a:tcPr>
                </a:tc>
                <a:tc>
                  <a:txBody>
                    <a:bodyPr/>
                    <a:lstStyle/>
                    <a:p>
                      <a:pPr algn="l"/>
                      <a:r>
                        <a:rPr sz="1875" b="0">
                          <a:solidFill>
                            <a:srgbClr val="132439"/>
                          </a:solidFill>
                          <a:latin typeface="Nimbus Sans"/>
                          <a:ea typeface="Nimbus Sans"/>
                          <a:cs typeface="Nimbus Sans"/>
                        </a:rPr>
                        <a:t>May edit files and run tools</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E7F3F5"/>
                    </a:solidFill>
                  </a:tcPr>
                </a:tc>
                <a:extLst>
                  <a:ext uri="{0D108BD9-81ED-4DB2-BD59-A6C34878D82A}">
                    <a16:rowId xmlns:a16="http://schemas.microsoft.com/office/drawing/2014/main" val="10002"/>
                  </a:ext>
                </a:extLst>
              </a:tr>
              <a:tr h="800100">
                <a:tc>
                  <a:txBody>
                    <a:bodyPr/>
                    <a:lstStyle/>
                    <a:p>
                      <a:pPr algn="l"/>
                      <a:r>
                        <a:rPr sz="1875" b="1">
                          <a:solidFill>
                            <a:srgbClr val="536477"/>
                          </a:solidFill>
                          <a:latin typeface="Nimbus Sans"/>
                          <a:ea typeface="Nimbus Sans"/>
                          <a:cs typeface="Nimbus Sans"/>
                        </a:rPr>
                        <a:t>Developer role</a:t>
                      </a:r>
                    </a:p>
                  </a:txBody>
                  <a:tcPr anchor="ctr">
                    <a:lnL w="28575">
                      <a:solidFill>
                        <a:srgbClr val="F4F7F8"/>
                      </a:solidFill>
                      <a:prstDash val="soli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FFFFFF"/>
                    </a:solidFill>
                  </a:tcPr>
                </a:tc>
                <a:tc>
                  <a:txBody>
                    <a:bodyPr/>
                    <a:lstStyle/>
                    <a:p>
                      <a:pPr algn="l"/>
                      <a:r>
                        <a:rPr sz="1875" b="0">
                          <a:solidFill>
                            <a:srgbClr val="536477"/>
                          </a:solidFill>
                          <a:latin typeface="Nimbus Sans"/>
                          <a:ea typeface="Nimbus Sans"/>
                          <a:cs typeface="Nimbus Sans"/>
                        </a:rPr>
                        <a:t>Accepts or edits suggestions</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FFFFFF"/>
                    </a:solidFill>
                  </a:tcPr>
                </a:tc>
                <a:tc>
                  <a:txBody>
                    <a:bodyPr/>
                    <a:lstStyle/>
                    <a:p>
                      <a:pPr algn="l"/>
                      <a:r>
                        <a:rPr sz="1875" b="0">
                          <a:solidFill>
                            <a:srgbClr val="132439"/>
                          </a:solidFill>
                          <a:latin typeface="Nimbus Sans"/>
                          <a:ea typeface="Nimbus Sans"/>
                          <a:cs typeface="Nimbus Sans"/>
                        </a:rPr>
                        <a:t>Sets limits and reviews work</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E7F3F5"/>
                    </a:solidFill>
                  </a:tcPr>
                </a:tc>
                <a:extLst>
                  <a:ext uri="{0D108BD9-81ED-4DB2-BD59-A6C34878D82A}">
                    <a16:rowId xmlns:a16="http://schemas.microsoft.com/office/drawing/2014/main" val="10003"/>
                  </a:ext>
                </a:extLst>
              </a:tr>
            </a:tbl>
          </a:graphicData>
        </a:graphic>
      </p:graphicFrame>
      <p:sp>
        <p:nvSpPr>
          <p:cNvPr id="4" name="human-control">
            <a:extLst>
              <a:ext uri="{FF2B5EF4-FFF2-40B4-BE49-F238E27FC236}">
                <a16:creationId xmlns:a16="http://schemas.microsoft.com/office/drawing/2014/main" id="{9A72178D-E439-4FBF-BB1B-1F20C4E6D270}"/>
              </a:ext>
            </a:extLst>
          </p:cNvPr>
          <p:cNvSpPr>
            <a:spLocks noGrp="1"/>
          </p:cNvSpPr>
          <p:nvPr/>
        </p:nvSpPr>
        <p:spPr>
          <a:xfrm>
            <a:off x="723900" y="5772150"/>
            <a:ext cx="10553700" cy="342900"/>
          </a:xfrm>
          <a:prstGeom prst="rect">
            <a:avLst/>
          </a:prstGeom>
          <a:noFill/>
          <a:ln w="0">
            <a:noFill/>
            <a:prstDash val="solid"/>
          </a:ln>
        </p:spPr>
        <p:txBody>
          <a:bodyPr wrap="square" lIns="0" tIns="0" rIns="0" bIns="0" anchor="t">
            <a:noAutofit/>
          </a:bodyPr>
          <a:lstStyle>
            <a:defPPr algn="l">
              <a:defRPr sz="2025" b="1">
                <a:solidFill>
                  <a:srgbClr val="087F8C"/>
                </a:solidFill>
                <a:latin typeface="Nimbus Sans"/>
                <a:ea typeface="Nimbus Sans"/>
                <a:cs typeface="Nimbus Sans"/>
              </a:defRPr>
            </a:defPPr>
          </a:lstStyle>
          <a:p>
            <a:pPr algn="l">
              <a:defRPr sz="2025" b="1">
                <a:solidFill>
                  <a:srgbClr val="087F8C"/>
                </a:solidFill>
                <a:latin typeface="Nimbus Sans"/>
                <a:ea typeface="Nimbus Sans"/>
                <a:cs typeface="Nimbus Sans"/>
              </a:defRPr>
            </a:pPr>
            <a:r>
              <a:rPr sz="2025" b="1">
                <a:solidFill>
                  <a:srgbClr val="087F8C"/>
                </a:solidFill>
                <a:latin typeface="Nimbus Sans"/>
                <a:ea typeface="Nimbus Sans"/>
                <a:cs typeface="Nimbus Sans"/>
              </a:rPr>
              <a:t>Both workflows still require developer judgment</a:t>
            </a:r>
          </a:p>
        </p:txBody>
      </p:sp>
      <p:sp>
        <p:nvSpPr>
          <p:cNvPr id="5" name="source">
            <a:extLst>
              <a:ext uri="{FF2B5EF4-FFF2-40B4-BE49-F238E27FC236}">
                <a16:creationId xmlns:a16="http://schemas.microsoft.com/office/drawing/2014/main" id="{DBC91284-B745-458E-B393-14348A6CFC8A}"/>
              </a:ext>
            </a:extLst>
          </p:cNvPr>
          <p:cNvSpPr>
            <a:spLocks noGrp="1"/>
          </p:cNvSpPr>
          <p:nvPr/>
        </p:nvSpPr>
        <p:spPr>
          <a:xfrm>
            <a:off x="704850" y="6324600"/>
            <a:ext cx="10477500" cy="247650"/>
          </a:xfrm>
          <a:prstGeom prst="rect">
            <a:avLst/>
          </a:prstGeom>
          <a:noFill/>
          <a:ln w="0">
            <a:noFill/>
            <a:prstDash val="solid"/>
          </a:ln>
        </p:spPr>
        <p:txBody>
          <a:bodyPr wrap="square" lIns="0" tIns="0" rIns="0" bIns="0" anchor="t">
            <a:noAutofit/>
          </a:bodyPr>
          <a:lstStyle>
            <a:defPPr algn="l">
              <a:defRPr sz="1275" b="0">
                <a:solidFill>
                  <a:srgbClr val="536477"/>
                </a:solidFill>
                <a:latin typeface="Nimbus Sans"/>
                <a:ea typeface="Nimbus Sans"/>
                <a:cs typeface="Nimbus Sans"/>
              </a:defRPr>
            </a:defPPr>
          </a:lstStyle>
          <a:p>
            <a:pPr algn="l">
              <a:defRPr sz="1275" b="0">
                <a:solidFill>
                  <a:srgbClr val="536477"/>
                </a:solidFill>
                <a:latin typeface="Nimbus Sans"/>
                <a:ea typeface="Nimbus Sans"/>
                <a:cs typeface="Nimbus Sans"/>
              </a:defRPr>
            </a:pPr>
            <a:r>
              <a:rPr sz="1275" b="0">
                <a:solidFill>
                  <a:srgbClr val="536477"/>
                </a:solidFill>
                <a:latin typeface="Nimbus Sans"/>
                <a:ea typeface="Nimbus Sans"/>
                <a:cs typeface="Nimbus Sans"/>
              </a:rPr>
              <a:t>Source: GitHub Docs, Using agent mode in your IDE</a:t>
            </a:r>
          </a:p>
        </p:txBody>
      </p:sp>
    </p:spTree>
    <p:extLst>
      <p:ext uri="{BB962C8B-B14F-4D97-AF65-F5344CB8AC3E}">
        <p14:creationId xmlns:p14="http://schemas.microsoft.com/office/powerpoint/2010/main" val="240295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itle">
            <a:extLst>
              <a:ext uri="{FF2B5EF4-FFF2-40B4-BE49-F238E27FC236}">
                <a16:creationId xmlns:a16="http://schemas.microsoft.com/office/drawing/2014/main" id="{319D0076-6FCE-4791-A879-457EFCD9E836}"/>
              </a:ext>
            </a:extLst>
          </p:cNvPr>
          <p:cNvSpPr>
            <a:spLocks noGrp="1"/>
          </p:cNvSpPr>
          <p:nvPr/>
        </p:nvSpPr>
        <p:spPr>
          <a:xfrm>
            <a:off x="704850" y="581025"/>
            <a:ext cx="10782300" cy="647700"/>
          </a:xfrm>
          <a:prstGeom prst="rect">
            <a:avLst/>
          </a:prstGeom>
          <a:noFill/>
          <a:ln w="0">
            <a:noFill/>
            <a:prstDash val="solid"/>
          </a:ln>
        </p:spPr>
        <p:txBody>
          <a:bodyPr wrap="square" lIns="0" tIns="0" rIns="0" bIns="0" anchor="t">
            <a:noAutofit/>
          </a:bodyPr>
          <a:lstStyle>
            <a:defPPr algn="l">
              <a:defRPr sz="3975" b="1">
                <a:solidFill>
                  <a:srgbClr val="132439"/>
                </a:solidFill>
                <a:latin typeface="Nimbus Sans"/>
                <a:ea typeface="Nimbus Sans"/>
                <a:cs typeface="Nimbus Sans"/>
              </a:defRPr>
            </a:defPPr>
          </a:lstStyle>
          <a:p>
            <a:pPr algn="l">
              <a:defRPr sz="3975" b="1">
                <a:solidFill>
                  <a:srgbClr val="132439"/>
                </a:solidFill>
                <a:latin typeface="Nimbus Sans"/>
                <a:ea typeface="Nimbus Sans"/>
                <a:cs typeface="Nimbus Sans"/>
              </a:defRPr>
            </a:pPr>
            <a:r>
              <a:rPr sz="3975" b="1">
                <a:solidFill>
                  <a:srgbClr val="132439"/>
                </a:solidFill>
                <a:latin typeface="Nimbus Sans"/>
                <a:ea typeface="Nimbus Sans"/>
                <a:cs typeface="Nimbus Sans"/>
              </a:rPr>
              <a:t>A bug-fix task in practice</a:t>
            </a:r>
          </a:p>
        </p:txBody>
      </p:sp>
      <p:sp>
        <p:nvSpPr>
          <p:cNvPr id="2" name="prompt-label">
            <a:extLst>
              <a:ext uri="{FF2B5EF4-FFF2-40B4-BE49-F238E27FC236}">
                <a16:creationId xmlns:a16="http://schemas.microsoft.com/office/drawing/2014/main" id="{B5635594-643B-4FF6-B8C3-0A66E4AE611A}"/>
              </a:ext>
            </a:extLst>
          </p:cNvPr>
          <p:cNvSpPr>
            <a:spLocks noGrp="1"/>
          </p:cNvSpPr>
          <p:nvPr/>
        </p:nvSpPr>
        <p:spPr>
          <a:xfrm>
            <a:off x="723900" y="1562100"/>
            <a:ext cx="10763250" cy="342900"/>
          </a:xfrm>
          <a:prstGeom prst="rect">
            <a:avLst/>
          </a:prstGeom>
          <a:noFill/>
          <a:ln w="0">
            <a:noFill/>
            <a:prstDash val="solid"/>
          </a:ln>
        </p:spPr>
        <p:txBody>
          <a:bodyPr wrap="square" lIns="0" tIns="0" rIns="0" bIns="0" anchor="t">
            <a:noAutofit/>
          </a:bodyPr>
          <a:lstStyle>
            <a:defPPr algn="l">
              <a:defRPr sz="1875" b="1">
                <a:solidFill>
                  <a:srgbClr val="087F8C"/>
                </a:solidFill>
                <a:latin typeface="Nimbus Sans"/>
                <a:ea typeface="Nimbus Sans"/>
                <a:cs typeface="Nimbus Sans"/>
              </a:defRPr>
            </a:defPPr>
          </a:lstStyle>
          <a:p>
            <a:pPr algn="l">
              <a:defRPr sz="1875" b="1">
                <a:solidFill>
                  <a:srgbClr val="087F8C"/>
                </a:solidFill>
                <a:latin typeface="Nimbus Sans"/>
                <a:ea typeface="Nimbus Sans"/>
                <a:cs typeface="Nimbus Sans"/>
              </a:defRPr>
            </a:pPr>
            <a:r>
              <a:rPr sz="1875" b="1">
                <a:solidFill>
                  <a:srgbClr val="087F8C"/>
                </a:solidFill>
                <a:latin typeface="Nimbus Sans"/>
                <a:ea typeface="Nimbus Sans"/>
                <a:cs typeface="Nimbus Sans"/>
              </a:rPr>
              <a:t>Illustrative request</a:t>
            </a:r>
          </a:p>
        </p:txBody>
      </p:sp>
      <p:sp>
        <p:nvSpPr>
          <p:cNvPr id="3" name="prompt">
            <a:extLst>
              <a:ext uri="{FF2B5EF4-FFF2-40B4-BE49-F238E27FC236}">
                <a16:creationId xmlns:a16="http://schemas.microsoft.com/office/drawing/2014/main" id="{F59570B7-BA2D-4ED6-A94A-383DB1019FC1}"/>
              </a:ext>
            </a:extLst>
          </p:cNvPr>
          <p:cNvSpPr>
            <a:spLocks noGrp="1"/>
          </p:cNvSpPr>
          <p:nvPr/>
        </p:nvSpPr>
        <p:spPr>
          <a:xfrm>
            <a:off x="723900" y="2047875"/>
            <a:ext cx="10572750" cy="895350"/>
          </a:xfrm>
          <a:prstGeom prst="rect">
            <a:avLst/>
          </a:prstGeom>
          <a:noFill/>
          <a:ln w="0">
            <a:noFill/>
            <a:prstDash val="solid"/>
          </a:ln>
        </p:spPr>
        <p:txBody>
          <a:bodyPr wrap="square" lIns="0" tIns="0" rIns="0" bIns="0" anchor="t">
            <a:noAutofit/>
          </a:bodyPr>
          <a:lstStyle>
            <a:defPPr algn="l">
              <a:defRPr sz="2625" b="1">
                <a:solidFill>
                  <a:srgbClr val="132439"/>
                </a:solidFill>
                <a:latin typeface="Nimbus Sans"/>
                <a:ea typeface="Nimbus Sans"/>
                <a:cs typeface="Nimbus Sans"/>
              </a:defRPr>
            </a:defPPr>
          </a:lstStyle>
          <a:p>
            <a:pPr algn="l">
              <a:lnSpc>
                <a:spcPct val="116000"/>
              </a:lnSpc>
              <a:buNone/>
              <a:defRPr sz="2625" b="1">
                <a:solidFill>
                  <a:srgbClr val="132439"/>
                </a:solidFill>
                <a:latin typeface="Nimbus Sans"/>
                <a:ea typeface="Nimbus Sans"/>
                <a:cs typeface="Nimbus Sans"/>
              </a:defRPr>
            </a:pPr>
            <a:r>
              <a:rPr sz="2625" b="1">
                <a:solidFill>
                  <a:srgbClr val="132439"/>
                </a:solidFill>
                <a:latin typeface="Nimbus Sans"/>
                <a:ea typeface="Nimbus Sans"/>
                <a:cs typeface="Nimbus Sans"/>
              </a:rPr>
              <a:t>Fix a crash when the input is empty.</a:t>
            </a:r>
          </a:p>
          <a:p>
            <a:pPr algn="l">
              <a:lnSpc>
                <a:spcPct val="116000"/>
              </a:lnSpc>
              <a:buNone/>
              <a:defRPr sz="2625" b="1">
                <a:solidFill>
                  <a:srgbClr val="132439"/>
                </a:solidFill>
                <a:latin typeface="Nimbus Sans"/>
                <a:ea typeface="Nimbus Sans"/>
                <a:cs typeface="Nimbus Sans"/>
              </a:defRPr>
            </a:pPr>
            <a:r>
              <a:rPr sz="2625" b="1">
                <a:solidFill>
                  <a:srgbClr val="132439"/>
                </a:solidFill>
                <a:latin typeface="Nimbus Sans"/>
                <a:ea typeface="Nimbus Sans"/>
                <a:cs typeface="Nimbus Sans"/>
              </a:rPr>
              <a:t>Add a test so it does not happen again.</a:t>
            </a:r>
          </a:p>
        </p:txBody>
      </p:sp>
      <p:sp>
        <p:nvSpPr>
          <p:cNvPr id="4" name="number-0">
            <a:extLst>
              <a:ext uri="{FF2B5EF4-FFF2-40B4-BE49-F238E27FC236}">
                <a16:creationId xmlns:a16="http://schemas.microsoft.com/office/drawing/2014/main" id="{C085AE96-9418-4D97-876B-6EE8CE5DB581}"/>
              </a:ext>
            </a:extLst>
          </p:cNvPr>
          <p:cNvSpPr>
            <a:spLocks noGrp="1"/>
          </p:cNvSpPr>
          <p:nvPr/>
        </p:nvSpPr>
        <p:spPr>
          <a:xfrm>
            <a:off x="723900" y="3286125"/>
            <a:ext cx="342900" cy="371475"/>
          </a:xfrm>
          <a:prstGeom prst="rect">
            <a:avLst/>
          </a:prstGeom>
          <a:noFill/>
          <a:ln w="0">
            <a:noFill/>
            <a:prstDash val="solid"/>
          </a:ln>
        </p:spPr>
        <p:txBody>
          <a:bodyPr wrap="square" lIns="0" tIns="0" rIns="0" bIns="0" anchor="t">
            <a:noAutofit/>
          </a:bodyPr>
          <a:lstStyle>
            <a:defPPr algn="l">
              <a:defRPr sz="2100" b="1">
                <a:solidFill>
                  <a:srgbClr val="087F8C"/>
                </a:solidFill>
                <a:latin typeface="Nimbus Sans"/>
                <a:ea typeface="Nimbus Sans"/>
                <a:cs typeface="Nimbus Sans"/>
              </a:defRPr>
            </a:defPPr>
          </a:lstStyle>
          <a:p>
            <a:pPr algn="l">
              <a:defRPr sz="2100" b="1">
                <a:solidFill>
                  <a:srgbClr val="087F8C"/>
                </a:solidFill>
                <a:latin typeface="Nimbus Sans"/>
                <a:ea typeface="Nimbus Sans"/>
                <a:cs typeface="Nimbus Sans"/>
              </a:defRPr>
            </a:pPr>
            <a:r>
              <a:rPr sz="2100" b="1">
                <a:solidFill>
                  <a:srgbClr val="087F8C"/>
                </a:solidFill>
                <a:latin typeface="Nimbus Sans"/>
                <a:ea typeface="Nimbus Sans"/>
                <a:cs typeface="Nimbus Sans"/>
              </a:rPr>
              <a:t>1</a:t>
            </a:r>
          </a:p>
        </p:txBody>
      </p:sp>
      <p:sp>
        <p:nvSpPr>
          <p:cNvPr id="5" name="stage-0">
            <a:extLst>
              <a:ext uri="{FF2B5EF4-FFF2-40B4-BE49-F238E27FC236}">
                <a16:creationId xmlns:a16="http://schemas.microsoft.com/office/drawing/2014/main" id="{29414823-D11F-400B-858F-227DBD2DD5C5}"/>
              </a:ext>
            </a:extLst>
          </p:cNvPr>
          <p:cNvSpPr>
            <a:spLocks noGrp="1"/>
          </p:cNvSpPr>
          <p:nvPr/>
        </p:nvSpPr>
        <p:spPr>
          <a:xfrm>
            <a:off x="1257300" y="3286125"/>
            <a:ext cx="1952625" cy="390525"/>
          </a:xfrm>
          <a:prstGeom prst="rect">
            <a:avLst/>
          </a:prstGeom>
          <a:noFill/>
          <a:ln w="0">
            <a:noFill/>
            <a:prstDash val="solid"/>
          </a:ln>
        </p:spPr>
        <p:txBody>
          <a:bodyPr wrap="square" lIns="0" tIns="0" rIns="0" bIns="0" anchor="t">
            <a:noAutofit/>
          </a:bodyPr>
          <a:lstStyle>
            <a:defPPr algn="l">
              <a:defRPr sz="2250" b="1">
                <a:solidFill>
                  <a:srgbClr val="132439"/>
                </a:solidFill>
                <a:latin typeface="Nimbus Sans"/>
                <a:ea typeface="Nimbus Sans"/>
                <a:cs typeface="Nimbus Sans"/>
              </a:defRPr>
            </a:defPPr>
          </a:lstStyle>
          <a:p>
            <a:pPr algn="l">
              <a:defRPr sz="2250" b="1">
                <a:solidFill>
                  <a:srgbClr val="132439"/>
                </a:solidFill>
                <a:latin typeface="Nimbus Sans"/>
                <a:ea typeface="Nimbus Sans"/>
                <a:cs typeface="Nimbus Sans"/>
              </a:defRPr>
            </a:pPr>
            <a:r>
              <a:rPr sz="2250" b="1">
                <a:solidFill>
                  <a:srgbClr val="132439"/>
                </a:solidFill>
                <a:latin typeface="Nimbus Sans"/>
                <a:ea typeface="Nimbus Sans"/>
                <a:cs typeface="Nimbus Sans"/>
              </a:rPr>
              <a:t>Inspect</a:t>
            </a:r>
          </a:p>
        </p:txBody>
      </p:sp>
      <p:sp>
        <p:nvSpPr>
          <p:cNvPr id="6" name="detail-0">
            <a:extLst>
              <a:ext uri="{FF2B5EF4-FFF2-40B4-BE49-F238E27FC236}">
                <a16:creationId xmlns:a16="http://schemas.microsoft.com/office/drawing/2014/main" id="{1B7514B2-05AF-4A3C-85E1-AD5246F4C76F}"/>
              </a:ext>
            </a:extLst>
          </p:cNvPr>
          <p:cNvSpPr>
            <a:spLocks noGrp="1"/>
          </p:cNvSpPr>
          <p:nvPr/>
        </p:nvSpPr>
        <p:spPr>
          <a:xfrm>
            <a:off x="3476625" y="3295650"/>
            <a:ext cx="8010525" cy="428625"/>
          </a:xfrm>
          <a:prstGeom prst="rect">
            <a:avLst/>
          </a:prstGeom>
          <a:noFill/>
          <a:ln w="0">
            <a:noFill/>
            <a:prstDash val="solid"/>
          </a:ln>
        </p:spPr>
        <p:txBody>
          <a:bodyPr wrap="square" lIns="0" tIns="0" rIns="0" bIns="0" anchor="t">
            <a:noAutofit/>
          </a:bodyPr>
          <a:lstStyle>
            <a:defPPr algn="l">
              <a:defRPr sz="2100" b="0">
                <a:solidFill>
                  <a:srgbClr val="536477"/>
                </a:solidFill>
                <a:latin typeface="Nimbus Sans"/>
                <a:ea typeface="Nimbus Sans"/>
                <a:cs typeface="Nimbus Sans"/>
              </a:defRPr>
            </a:defPPr>
          </a:lstStyle>
          <a:p>
            <a:pPr algn="l">
              <a:defRPr sz="2100" b="0">
                <a:solidFill>
                  <a:srgbClr val="536477"/>
                </a:solidFill>
                <a:latin typeface="Nimbus Sans"/>
                <a:ea typeface="Nimbus Sans"/>
                <a:cs typeface="Nimbus Sans"/>
              </a:defRPr>
            </a:pPr>
            <a:r>
              <a:rPr sz="2100" b="0">
                <a:solidFill>
                  <a:srgbClr val="536477"/>
                </a:solidFill>
                <a:latin typeface="Nimbus Sans"/>
                <a:ea typeface="Nimbus Sans"/>
                <a:cs typeface="Nimbus Sans"/>
              </a:rPr>
              <a:t>Read relevant files and locate the failing path</a:t>
            </a:r>
          </a:p>
        </p:txBody>
      </p:sp>
      <p:sp>
        <p:nvSpPr>
          <p:cNvPr id="7" name="number-1">
            <a:extLst>
              <a:ext uri="{FF2B5EF4-FFF2-40B4-BE49-F238E27FC236}">
                <a16:creationId xmlns:a16="http://schemas.microsoft.com/office/drawing/2014/main" id="{2BC3DC4E-27B0-4296-9060-C0B2CFDE9AAF}"/>
              </a:ext>
            </a:extLst>
          </p:cNvPr>
          <p:cNvSpPr>
            <a:spLocks noGrp="1"/>
          </p:cNvSpPr>
          <p:nvPr/>
        </p:nvSpPr>
        <p:spPr>
          <a:xfrm>
            <a:off x="723900" y="4019550"/>
            <a:ext cx="342900" cy="371475"/>
          </a:xfrm>
          <a:prstGeom prst="rect">
            <a:avLst/>
          </a:prstGeom>
          <a:noFill/>
          <a:ln w="0">
            <a:noFill/>
            <a:prstDash val="solid"/>
          </a:ln>
        </p:spPr>
        <p:txBody>
          <a:bodyPr wrap="square" lIns="0" tIns="0" rIns="0" bIns="0" anchor="t">
            <a:noAutofit/>
          </a:bodyPr>
          <a:lstStyle>
            <a:defPPr algn="l">
              <a:defRPr sz="2100" b="1">
                <a:solidFill>
                  <a:srgbClr val="087F8C"/>
                </a:solidFill>
                <a:latin typeface="Nimbus Sans"/>
                <a:ea typeface="Nimbus Sans"/>
                <a:cs typeface="Nimbus Sans"/>
              </a:defRPr>
            </a:defPPr>
          </a:lstStyle>
          <a:p>
            <a:pPr algn="l">
              <a:defRPr sz="2100" b="1">
                <a:solidFill>
                  <a:srgbClr val="087F8C"/>
                </a:solidFill>
                <a:latin typeface="Nimbus Sans"/>
                <a:ea typeface="Nimbus Sans"/>
                <a:cs typeface="Nimbus Sans"/>
              </a:defRPr>
            </a:pPr>
            <a:r>
              <a:rPr sz="2100" b="1">
                <a:solidFill>
                  <a:srgbClr val="087F8C"/>
                </a:solidFill>
                <a:latin typeface="Nimbus Sans"/>
                <a:ea typeface="Nimbus Sans"/>
                <a:cs typeface="Nimbus Sans"/>
              </a:rPr>
              <a:t>2</a:t>
            </a:r>
          </a:p>
        </p:txBody>
      </p:sp>
      <p:sp>
        <p:nvSpPr>
          <p:cNvPr id="8" name="stage-1">
            <a:extLst>
              <a:ext uri="{FF2B5EF4-FFF2-40B4-BE49-F238E27FC236}">
                <a16:creationId xmlns:a16="http://schemas.microsoft.com/office/drawing/2014/main" id="{83B176D7-5B52-4D2F-8ECC-23D2B92AF0D2}"/>
              </a:ext>
            </a:extLst>
          </p:cNvPr>
          <p:cNvSpPr>
            <a:spLocks noGrp="1"/>
          </p:cNvSpPr>
          <p:nvPr/>
        </p:nvSpPr>
        <p:spPr>
          <a:xfrm>
            <a:off x="1257300" y="4019550"/>
            <a:ext cx="1952625" cy="390525"/>
          </a:xfrm>
          <a:prstGeom prst="rect">
            <a:avLst/>
          </a:prstGeom>
          <a:noFill/>
          <a:ln w="0">
            <a:noFill/>
            <a:prstDash val="solid"/>
          </a:ln>
        </p:spPr>
        <p:txBody>
          <a:bodyPr wrap="square" lIns="0" tIns="0" rIns="0" bIns="0" anchor="t">
            <a:noAutofit/>
          </a:bodyPr>
          <a:lstStyle>
            <a:defPPr algn="l">
              <a:defRPr sz="2250" b="1">
                <a:solidFill>
                  <a:srgbClr val="132439"/>
                </a:solidFill>
                <a:latin typeface="Nimbus Sans"/>
                <a:ea typeface="Nimbus Sans"/>
                <a:cs typeface="Nimbus Sans"/>
              </a:defRPr>
            </a:defPPr>
          </a:lstStyle>
          <a:p>
            <a:pPr algn="l">
              <a:defRPr sz="2250" b="1">
                <a:solidFill>
                  <a:srgbClr val="132439"/>
                </a:solidFill>
                <a:latin typeface="Nimbus Sans"/>
                <a:ea typeface="Nimbus Sans"/>
                <a:cs typeface="Nimbus Sans"/>
              </a:defRPr>
            </a:pPr>
            <a:r>
              <a:rPr sz="2250" b="1">
                <a:solidFill>
                  <a:srgbClr val="132439"/>
                </a:solidFill>
                <a:latin typeface="Nimbus Sans"/>
                <a:ea typeface="Nimbus Sans"/>
                <a:cs typeface="Nimbus Sans"/>
              </a:rPr>
              <a:t>Propose</a:t>
            </a:r>
          </a:p>
        </p:txBody>
      </p:sp>
      <p:sp>
        <p:nvSpPr>
          <p:cNvPr id="9" name="detail-1">
            <a:extLst>
              <a:ext uri="{FF2B5EF4-FFF2-40B4-BE49-F238E27FC236}">
                <a16:creationId xmlns:a16="http://schemas.microsoft.com/office/drawing/2014/main" id="{CC530560-0AC9-4433-910F-8601D337E9DD}"/>
              </a:ext>
            </a:extLst>
          </p:cNvPr>
          <p:cNvSpPr>
            <a:spLocks noGrp="1"/>
          </p:cNvSpPr>
          <p:nvPr/>
        </p:nvSpPr>
        <p:spPr>
          <a:xfrm>
            <a:off x="3476625" y="4029075"/>
            <a:ext cx="8010525" cy="428625"/>
          </a:xfrm>
          <a:prstGeom prst="rect">
            <a:avLst/>
          </a:prstGeom>
          <a:noFill/>
          <a:ln w="0">
            <a:noFill/>
            <a:prstDash val="solid"/>
          </a:ln>
        </p:spPr>
        <p:txBody>
          <a:bodyPr wrap="square" lIns="0" tIns="0" rIns="0" bIns="0" anchor="t">
            <a:noAutofit/>
          </a:bodyPr>
          <a:lstStyle>
            <a:defPPr algn="l">
              <a:defRPr sz="2100" b="0">
                <a:solidFill>
                  <a:srgbClr val="536477"/>
                </a:solidFill>
                <a:latin typeface="Nimbus Sans"/>
                <a:ea typeface="Nimbus Sans"/>
                <a:cs typeface="Nimbus Sans"/>
              </a:defRPr>
            </a:defPPr>
          </a:lstStyle>
          <a:p>
            <a:pPr algn="l">
              <a:defRPr sz="2100" b="0">
                <a:solidFill>
                  <a:srgbClr val="536477"/>
                </a:solidFill>
                <a:latin typeface="Nimbus Sans"/>
                <a:ea typeface="Nimbus Sans"/>
                <a:cs typeface="Nimbus Sans"/>
              </a:defRPr>
            </a:pPr>
            <a:r>
              <a:rPr sz="2100" b="0">
                <a:solidFill>
                  <a:srgbClr val="536477"/>
                </a:solidFill>
                <a:latin typeface="Nimbus Sans"/>
                <a:ea typeface="Nimbus Sans"/>
                <a:cs typeface="Nimbus Sans"/>
              </a:rPr>
              <a:t>Draft a focused change and a regression test</a:t>
            </a:r>
          </a:p>
        </p:txBody>
      </p:sp>
      <p:sp>
        <p:nvSpPr>
          <p:cNvPr id="10" name="number-2">
            <a:extLst>
              <a:ext uri="{FF2B5EF4-FFF2-40B4-BE49-F238E27FC236}">
                <a16:creationId xmlns:a16="http://schemas.microsoft.com/office/drawing/2014/main" id="{814EFC87-4A25-467C-906D-5F832E3EC63F}"/>
              </a:ext>
            </a:extLst>
          </p:cNvPr>
          <p:cNvSpPr>
            <a:spLocks noGrp="1"/>
          </p:cNvSpPr>
          <p:nvPr/>
        </p:nvSpPr>
        <p:spPr>
          <a:xfrm>
            <a:off x="723900" y="4752975"/>
            <a:ext cx="342900" cy="371475"/>
          </a:xfrm>
          <a:prstGeom prst="rect">
            <a:avLst/>
          </a:prstGeom>
          <a:noFill/>
          <a:ln w="0">
            <a:noFill/>
            <a:prstDash val="solid"/>
          </a:ln>
        </p:spPr>
        <p:txBody>
          <a:bodyPr wrap="square" lIns="0" tIns="0" rIns="0" bIns="0" anchor="t">
            <a:noAutofit/>
          </a:bodyPr>
          <a:lstStyle>
            <a:defPPr algn="l">
              <a:defRPr sz="2100" b="1">
                <a:solidFill>
                  <a:srgbClr val="087F8C"/>
                </a:solidFill>
                <a:latin typeface="Nimbus Sans"/>
                <a:ea typeface="Nimbus Sans"/>
                <a:cs typeface="Nimbus Sans"/>
              </a:defRPr>
            </a:defPPr>
          </a:lstStyle>
          <a:p>
            <a:pPr algn="l">
              <a:defRPr sz="2100" b="1">
                <a:solidFill>
                  <a:srgbClr val="087F8C"/>
                </a:solidFill>
                <a:latin typeface="Nimbus Sans"/>
                <a:ea typeface="Nimbus Sans"/>
                <a:cs typeface="Nimbus Sans"/>
              </a:defRPr>
            </a:pPr>
            <a:r>
              <a:rPr sz="2100" b="1">
                <a:solidFill>
                  <a:srgbClr val="087F8C"/>
                </a:solidFill>
                <a:latin typeface="Nimbus Sans"/>
                <a:ea typeface="Nimbus Sans"/>
                <a:cs typeface="Nimbus Sans"/>
              </a:rPr>
              <a:t>3</a:t>
            </a:r>
          </a:p>
        </p:txBody>
      </p:sp>
      <p:sp>
        <p:nvSpPr>
          <p:cNvPr id="11" name="stage-2">
            <a:extLst>
              <a:ext uri="{FF2B5EF4-FFF2-40B4-BE49-F238E27FC236}">
                <a16:creationId xmlns:a16="http://schemas.microsoft.com/office/drawing/2014/main" id="{5C89BD1B-A0CF-43C6-8877-9CD2D3095A7C}"/>
              </a:ext>
            </a:extLst>
          </p:cNvPr>
          <p:cNvSpPr>
            <a:spLocks noGrp="1"/>
          </p:cNvSpPr>
          <p:nvPr/>
        </p:nvSpPr>
        <p:spPr>
          <a:xfrm>
            <a:off x="1257300" y="4752975"/>
            <a:ext cx="1952625" cy="390525"/>
          </a:xfrm>
          <a:prstGeom prst="rect">
            <a:avLst/>
          </a:prstGeom>
          <a:noFill/>
          <a:ln w="0">
            <a:noFill/>
            <a:prstDash val="solid"/>
          </a:ln>
        </p:spPr>
        <p:txBody>
          <a:bodyPr wrap="square" lIns="0" tIns="0" rIns="0" bIns="0" anchor="t">
            <a:noAutofit/>
          </a:bodyPr>
          <a:lstStyle>
            <a:defPPr algn="l">
              <a:defRPr sz="2250" b="1">
                <a:solidFill>
                  <a:srgbClr val="132439"/>
                </a:solidFill>
                <a:latin typeface="Nimbus Sans"/>
                <a:ea typeface="Nimbus Sans"/>
                <a:cs typeface="Nimbus Sans"/>
              </a:defRPr>
            </a:defPPr>
          </a:lstStyle>
          <a:p>
            <a:pPr algn="l">
              <a:defRPr sz="2250" b="1">
                <a:solidFill>
                  <a:srgbClr val="132439"/>
                </a:solidFill>
                <a:latin typeface="Nimbus Sans"/>
                <a:ea typeface="Nimbus Sans"/>
                <a:cs typeface="Nimbus Sans"/>
              </a:defRPr>
            </a:pPr>
            <a:r>
              <a:rPr sz="2250" b="1">
                <a:solidFill>
                  <a:srgbClr val="132439"/>
                </a:solidFill>
                <a:latin typeface="Nimbus Sans"/>
                <a:ea typeface="Nimbus Sans"/>
                <a:cs typeface="Nimbus Sans"/>
              </a:rPr>
              <a:t>Check</a:t>
            </a:r>
          </a:p>
        </p:txBody>
      </p:sp>
      <p:sp>
        <p:nvSpPr>
          <p:cNvPr id="12" name="detail-2">
            <a:extLst>
              <a:ext uri="{FF2B5EF4-FFF2-40B4-BE49-F238E27FC236}">
                <a16:creationId xmlns:a16="http://schemas.microsoft.com/office/drawing/2014/main" id="{E87C31E5-7D52-44F1-9ED5-8D9D7DA0953B}"/>
              </a:ext>
            </a:extLst>
          </p:cNvPr>
          <p:cNvSpPr>
            <a:spLocks noGrp="1"/>
          </p:cNvSpPr>
          <p:nvPr/>
        </p:nvSpPr>
        <p:spPr>
          <a:xfrm>
            <a:off x="3476625" y="4762500"/>
            <a:ext cx="8010525" cy="428625"/>
          </a:xfrm>
          <a:prstGeom prst="rect">
            <a:avLst/>
          </a:prstGeom>
          <a:noFill/>
          <a:ln w="0">
            <a:noFill/>
            <a:prstDash val="solid"/>
          </a:ln>
        </p:spPr>
        <p:txBody>
          <a:bodyPr wrap="square" lIns="0" tIns="0" rIns="0" bIns="0" anchor="t">
            <a:noAutofit/>
          </a:bodyPr>
          <a:lstStyle>
            <a:defPPr algn="l">
              <a:defRPr sz="2100" b="0">
                <a:solidFill>
                  <a:srgbClr val="536477"/>
                </a:solidFill>
                <a:latin typeface="Nimbus Sans"/>
                <a:ea typeface="Nimbus Sans"/>
                <a:cs typeface="Nimbus Sans"/>
              </a:defRPr>
            </a:defPPr>
          </a:lstStyle>
          <a:p>
            <a:pPr algn="l">
              <a:defRPr sz="2100" b="0">
                <a:solidFill>
                  <a:srgbClr val="536477"/>
                </a:solidFill>
                <a:latin typeface="Nimbus Sans"/>
                <a:ea typeface="Nimbus Sans"/>
                <a:cs typeface="Nimbus Sans"/>
              </a:defRPr>
            </a:pPr>
            <a:r>
              <a:rPr sz="2100" b="0">
                <a:solidFill>
                  <a:srgbClr val="536477"/>
                </a:solidFill>
                <a:latin typeface="Nimbus Sans"/>
                <a:ea typeface="Nimbus Sans"/>
                <a:cs typeface="Nimbus Sans"/>
              </a:rPr>
              <a:t>Run the checks and revise after feedback</a:t>
            </a:r>
          </a:p>
        </p:txBody>
      </p:sp>
      <p:sp>
        <p:nvSpPr>
          <p:cNvPr id="13" name="human-check">
            <a:extLst>
              <a:ext uri="{FF2B5EF4-FFF2-40B4-BE49-F238E27FC236}">
                <a16:creationId xmlns:a16="http://schemas.microsoft.com/office/drawing/2014/main" id="{48F18822-646B-4E53-89C4-638DF5E52182}"/>
              </a:ext>
            </a:extLst>
          </p:cNvPr>
          <p:cNvSpPr>
            <a:spLocks noGrp="1"/>
          </p:cNvSpPr>
          <p:nvPr/>
        </p:nvSpPr>
        <p:spPr>
          <a:xfrm>
            <a:off x="723900" y="5686425"/>
            <a:ext cx="10763250" cy="409575"/>
          </a:xfrm>
          <a:prstGeom prst="rect">
            <a:avLst/>
          </a:prstGeom>
          <a:noFill/>
          <a:ln w="0">
            <a:noFill/>
            <a:prstDash val="solid"/>
          </a:ln>
        </p:spPr>
        <p:txBody>
          <a:bodyPr wrap="square" lIns="0" tIns="0" rIns="0" bIns="0" anchor="t">
            <a:noAutofit/>
          </a:bodyPr>
          <a:lstStyle>
            <a:defPPr algn="l">
              <a:defRPr sz="2100" b="1">
                <a:solidFill>
                  <a:srgbClr val="087F8C"/>
                </a:solidFill>
                <a:latin typeface="Nimbus Sans"/>
                <a:ea typeface="Nimbus Sans"/>
                <a:cs typeface="Nimbus Sans"/>
              </a:defRPr>
            </a:defPPr>
          </a:lstStyle>
          <a:p>
            <a:pPr algn="l">
              <a:defRPr sz="2100" b="1">
                <a:solidFill>
                  <a:srgbClr val="087F8C"/>
                </a:solidFill>
                <a:latin typeface="Nimbus Sans"/>
                <a:ea typeface="Nimbus Sans"/>
                <a:cs typeface="Nimbus Sans"/>
              </a:defRPr>
            </a:pPr>
            <a:r>
              <a:rPr sz="2100" b="1">
                <a:solidFill>
                  <a:srgbClr val="087F8C"/>
                </a:solidFill>
                <a:latin typeface="Nimbus Sans"/>
                <a:ea typeface="Nimbus Sans"/>
                <a:cs typeface="Nimbus Sans"/>
              </a:rPr>
              <a:t>Developer verifies behavior before accepting the change</a:t>
            </a:r>
          </a:p>
        </p:txBody>
      </p:sp>
      <p:sp>
        <p:nvSpPr>
          <p:cNvPr id="14" name="source">
            <a:extLst>
              <a:ext uri="{FF2B5EF4-FFF2-40B4-BE49-F238E27FC236}">
                <a16:creationId xmlns:a16="http://schemas.microsoft.com/office/drawing/2014/main" id="{46DD8B3A-AFBC-43E9-B016-44E6DAA0779E}"/>
              </a:ext>
            </a:extLst>
          </p:cNvPr>
          <p:cNvSpPr>
            <a:spLocks noGrp="1"/>
          </p:cNvSpPr>
          <p:nvPr/>
        </p:nvSpPr>
        <p:spPr>
          <a:xfrm>
            <a:off x="704850" y="6324600"/>
            <a:ext cx="10782300" cy="247650"/>
          </a:xfrm>
          <a:prstGeom prst="rect">
            <a:avLst/>
          </a:prstGeom>
          <a:noFill/>
          <a:ln w="0">
            <a:noFill/>
            <a:prstDash val="solid"/>
          </a:ln>
        </p:spPr>
        <p:txBody>
          <a:bodyPr wrap="square" lIns="0" tIns="0" rIns="0" bIns="0" anchor="t">
            <a:noAutofit/>
          </a:bodyPr>
          <a:lstStyle>
            <a:defPPr algn="l">
              <a:defRPr sz="1275" b="0">
                <a:solidFill>
                  <a:srgbClr val="536477"/>
                </a:solidFill>
                <a:latin typeface="Nimbus Sans"/>
                <a:ea typeface="Nimbus Sans"/>
                <a:cs typeface="Nimbus Sans"/>
              </a:defRPr>
            </a:defPPr>
          </a:lstStyle>
          <a:p>
            <a:pPr algn="l">
              <a:defRPr sz="1275" b="0">
                <a:solidFill>
                  <a:srgbClr val="536477"/>
                </a:solidFill>
                <a:latin typeface="Nimbus Sans"/>
                <a:ea typeface="Nimbus Sans"/>
                <a:cs typeface="Nimbus Sans"/>
              </a:defRPr>
            </a:pPr>
            <a:r>
              <a:rPr sz="1275" b="0">
                <a:solidFill>
                  <a:srgbClr val="536477"/>
                </a:solidFill>
                <a:latin typeface="Nimbus Sans"/>
                <a:ea typeface="Nimbus Sans"/>
                <a:cs typeface="Nimbus Sans"/>
              </a:rPr>
              <a:t>Illustrative workflow based on GitHub Docs. This is not a recorded demonstration or benchmark.</a:t>
            </a:r>
          </a:p>
        </p:txBody>
      </p:sp>
    </p:spTree>
    <p:extLst>
      <p:ext uri="{BB962C8B-B14F-4D97-AF65-F5344CB8AC3E}">
        <p14:creationId xmlns:p14="http://schemas.microsoft.com/office/powerpoint/2010/main" val="598499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F21A81D8-031C-4D0B-903E-B7DC11ECDF56}"/>
              </a:ext>
            </a:extLst>
          </p:cNvPr>
          <p:cNvSpPr>
            <a:spLocks noGrp="1"/>
          </p:cNvSpPr>
          <p:nvPr/>
        </p:nvSpPr>
        <p:spPr>
          <a:xfrm>
            <a:off x="704850" y="581025"/>
            <a:ext cx="10782300" cy="647700"/>
          </a:xfrm>
          <a:prstGeom prst="rect">
            <a:avLst/>
          </a:prstGeom>
          <a:noFill/>
          <a:ln w="0">
            <a:noFill/>
            <a:prstDash val="solid"/>
          </a:ln>
        </p:spPr>
        <p:txBody>
          <a:bodyPr wrap="square" lIns="0" tIns="0" rIns="0" bIns="0" anchor="t">
            <a:noAutofit/>
          </a:bodyPr>
          <a:lstStyle>
            <a:defPPr algn="l">
              <a:defRPr sz="3750" b="1">
                <a:solidFill>
                  <a:srgbClr val="132439"/>
                </a:solidFill>
                <a:latin typeface="Nimbus Sans"/>
                <a:ea typeface="Nimbus Sans"/>
                <a:cs typeface="Nimbus Sans"/>
              </a:defRPr>
            </a:defPPr>
          </a:lstStyle>
          <a:p>
            <a:pPr algn="l">
              <a:defRPr sz="3750" b="1">
                <a:solidFill>
                  <a:srgbClr val="132439"/>
                </a:solidFill>
                <a:latin typeface="Nimbus Sans"/>
                <a:ea typeface="Nimbus Sans"/>
                <a:cs typeface="Nimbus Sans"/>
              </a:defRPr>
            </a:pPr>
            <a:r>
              <a:rPr sz="3750" b="1">
                <a:solidFill>
                  <a:srgbClr val="132439"/>
                </a:solidFill>
                <a:latin typeface="Nimbus Sans"/>
                <a:ea typeface="Nimbus Sans"/>
                <a:cs typeface="Nimbus Sans"/>
              </a:rPr>
              <a:t>Potential benefits in everyday work</a:t>
            </a:r>
          </a:p>
        </p:txBody>
      </p:sp>
      <p:sp>
        <p:nvSpPr>
          <p:cNvPr id="2" name="subtitle">
            <a:extLst>
              <a:ext uri="{FF2B5EF4-FFF2-40B4-BE49-F238E27FC236}">
                <a16:creationId xmlns:a16="http://schemas.microsoft.com/office/drawing/2014/main" id="{7513E867-18E6-4A35-ABEB-6493920DF619}"/>
              </a:ext>
            </a:extLst>
          </p:cNvPr>
          <p:cNvSpPr>
            <a:spLocks noGrp="1"/>
          </p:cNvSpPr>
          <p:nvPr/>
        </p:nvSpPr>
        <p:spPr>
          <a:xfrm>
            <a:off x="723900" y="1495425"/>
            <a:ext cx="10553700" cy="447675"/>
          </a:xfrm>
          <a:prstGeom prst="rect">
            <a:avLst/>
          </a:prstGeom>
          <a:noFill/>
          <a:ln w="0">
            <a:noFill/>
            <a:prstDash val="solid"/>
          </a:ln>
        </p:spPr>
        <p:txBody>
          <a:bodyPr wrap="square" lIns="0" tIns="0" rIns="0" bIns="0" anchor="t">
            <a:noAutofit/>
          </a:bodyPr>
          <a:lstStyle>
            <a:defPPr algn="l">
              <a:defRPr sz="2250" b="0">
                <a:solidFill>
                  <a:srgbClr val="536477"/>
                </a:solidFill>
                <a:latin typeface="Nimbus Sans"/>
                <a:ea typeface="Nimbus Sans"/>
                <a:cs typeface="Nimbus Sans"/>
              </a:defRPr>
            </a:defPPr>
          </a:lstStyle>
          <a:p>
            <a:pPr algn="l">
              <a:defRPr sz="2250" b="0">
                <a:solidFill>
                  <a:srgbClr val="536477"/>
                </a:solidFill>
                <a:latin typeface="Nimbus Sans"/>
                <a:ea typeface="Nimbus Sans"/>
                <a:cs typeface="Nimbus Sans"/>
              </a:defRPr>
            </a:pPr>
            <a:r>
              <a:rPr sz="2250" b="0">
                <a:solidFill>
                  <a:srgbClr val="536477"/>
                </a:solidFill>
                <a:latin typeface="Nimbus Sans"/>
                <a:ea typeface="Nimbus Sans"/>
                <a:cs typeface="Nimbus Sans"/>
              </a:rPr>
              <a:t>A useful starting point still needs verification</a:t>
            </a:r>
          </a:p>
        </p:txBody>
      </p:sp>
      <p:graphicFrame>
        <p:nvGraphicFramePr>
          <p:cNvPr id="3" name="Table 2">
            <a:extLst>
              <a:ext uri="{FF2B5EF4-FFF2-40B4-BE49-F238E27FC236}">
                <a16:creationId xmlns:a16="http://schemas.microsoft.com/office/drawing/2014/main" id="{1542A0A3-384F-475B-8073-E4B5D16BAC96}"/>
              </a:ext>
            </a:extLst>
          </p:cNvPr>
          <p:cNvGraphicFramePr/>
          <p:nvPr/>
        </p:nvGraphicFramePr>
        <p:xfrm>
          <a:off x="704850" y="2324100"/>
          <a:ext cx="10782300" cy="3200400"/>
        </p:xfrm>
        <a:graphic>
          <a:graphicData uri="http://schemas.openxmlformats.org/drawingml/2006/table">
            <a:tbl>
              <a:tblPr/>
              <a:tblGrid>
                <a:gridCol w="20955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685800">
                <a:tc>
                  <a:txBody>
                    <a:bodyPr/>
                    <a:lstStyle/>
                    <a:p>
                      <a:pPr algn="l"/>
                      <a:r>
                        <a:rPr sz="2100" b="1">
                          <a:solidFill>
                            <a:srgbClr val="FFFFFF"/>
                          </a:solidFill>
                          <a:latin typeface="Nimbus Sans"/>
                          <a:ea typeface="Nimbus Sans"/>
                          <a:cs typeface="Nimbus Sans"/>
                        </a:rPr>
                        <a:t>Task</a:t>
                      </a:r>
                    </a:p>
                  </a:txBody>
                  <a:tcPr anchor="ctr">
                    <a:lnL w="28575">
                      <a:solidFill>
                        <a:srgbClr val="F4F7F8"/>
                      </a:solidFill>
                      <a:prstDash val="solid"/>
                    </a:lnL>
                    <a:lnR w="28575">
                      <a:solidFill>
                        <a:srgbClr val="F4F7F8"/>
                      </a:solidFill>
                      <a:prstDash val="solid"/>
                    </a:lnR>
                    <a:lnT w="28575">
                      <a:solidFill>
                        <a:srgbClr val="F4F7F8"/>
                      </a:solidFill>
                      <a:prstDash val="solid"/>
                    </a:lnT>
                    <a:lnB w="28575">
                      <a:solidFill>
                        <a:srgbClr val="F4F7F8"/>
                      </a:solidFill>
                      <a:prstDash val="solid"/>
                    </a:lnB>
                    <a:solidFill>
                      <a:srgbClr val="0B162B"/>
                    </a:solidFill>
                  </a:tcPr>
                </a:tc>
                <a:tc>
                  <a:txBody>
                    <a:bodyPr/>
                    <a:lstStyle/>
                    <a:p>
                      <a:pPr algn="l"/>
                      <a:r>
                        <a:rPr sz="2100" b="1">
                          <a:solidFill>
                            <a:srgbClr val="FFFFFF"/>
                          </a:solidFill>
                          <a:latin typeface="Nimbus Sans"/>
                          <a:ea typeface="Nimbus Sans"/>
                          <a:cs typeface="Nimbus Sans"/>
                        </a:rPr>
                        <a:t>Possible advantage</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a:solidFill>
                        <a:srgbClr val="F4F7F8"/>
                      </a:solidFill>
                      <a:prstDash val="solid"/>
                    </a:lnT>
                    <a:lnB w="28575">
                      <a:solidFill>
                        <a:srgbClr val="F4F7F8"/>
                      </a:solidFill>
                      <a:prstDash val="solid"/>
                    </a:lnB>
                    <a:solidFill>
                      <a:srgbClr val="0B162B"/>
                    </a:solidFill>
                  </a:tcPr>
                </a:tc>
                <a:tc>
                  <a:txBody>
                    <a:bodyPr/>
                    <a:lstStyle/>
                    <a:p>
                      <a:pPr algn="l"/>
                      <a:r>
                        <a:rPr sz="2100" b="1">
                          <a:solidFill>
                            <a:srgbClr val="FFFFFF"/>
                          </a:solidFill>
                          <a:latin typeface="Nimbus Sans"/>
                          <a:ea typeface="Nimbus Sans"/>
                          <a:cs typeface="Nimbus Sans"/>
                        </a:rPr>
                        <a:t>Human check</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a:solidFill>
                        <a:srgbClr val="F4F7F8"/>
                      </a:solidFill>
                      <a:prstDash val="solid"/>
                    </a:lnT>
                    <a:lnB w="28575">
                      <a:solidFill>
                        <a:srgbClr val="F4F7F8"/>
                      </a:solidFill>
                      <a:prstDash val="solid"/>
                    </a:lnB>
                    <a:solidFill>
                      <a:srgbClr val="0B162B"/>
                    </a:solidFill>
                  </a:tcPr>
                </a:tc>
                <a:extLst>
                  <a:ext uri="{0D108BD9-81ED-4DB2-BD59-A6C34878D82A}">
                    <a16:rowId xmlns:a16="http://schemas.microsoft.com/office/drawing/2014/main" val="10000"/>
                  </a:ext>
                </a:extLst>
              </a:tr>
              <a:tr h="838200">
                <a:tc>
                  <a:txBody>
                    <a:bodyPr/>
                    <a:lstStyle/>
                    <a:p>
                      <a:pPr algn="l"/>
                      <a:r>
                        <a:rPr sz="1875" b="1">
                          <a:solidFill>
                            <a:srgbClr val="132439"/>
                          </a:solidFill>
                          <a:latin typeface="Nimbus Sans"/>
                          <a:ea typeface="Nimbus Sans"/>
                          <a:cs typeface="Nimbus Sans"/>
                        </a:rPr>
                        <a:t>Bug fixes</a:t>
                      </a:r>
                    </a:p>
                  </a:txBody>
                  <a:tcPr anchor="ctr">
                    <a:lnL w="28575">
                      <a:solidFill>
                        <a:srgbClr val="F4F7F8"/>
                      </a:solidFill>
                      <a:prstDash val="soli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FFFFFF"/>
                    </a:solidFill>
                  </a:tcPr>
                </a:tc>
                <a:tc>
                  <a:txBody>
                    <a:bodyPr/>
                    <a:lstStyle/>
                    <a:p>
                      <a:pPr algn="l"/>
                      <a:r>
                        <a:rPr sz="1875" b="0">
                          <a:solidFill>
                            <a:srgbClr val="536477"/>
                          </a:solidFill>
                          <a:latin typeface="Nimbus Sans"/>
                          <a:ea typeface="Nimbus Sans"/>
                          <a:cs typeface="Nimbus Sans"/>
                        </a:rPr>
                        <a:t>A draft to investigate</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E7F3F5"/>
                    </a:solidFill>
                  </a:tcPr>
                </a:tc>
                <a:tc>
                  <a:txBody>
                    <a:bodyPr/>
                    <a:lstStyle/>
                    <a:p>
                      <a:pPr algn="l"/>
                      <a:r>
                        <a:rPr sz="1875" b="0">
                          <a:solidFill>
                            <a:srgbClr val="536477"/>
                          </a:solidFill>
                          <a:latin typeface="Nimbus Sans"/>
                          <a:ea typeface="Nimbus Sans"/>
                          <a:cs typeface="Nimbus Sans"/>
                        </a:rPr>
                        <a:t>Does behavior match</a:t>
                      </a:r>
                    </a:p>
                    <a:p>
                      <a:pPr algn="l"/>
                      <a:r>
                        <a:rPr sz="1875" b="0">
                          <a:solidFill>
                            <a:srgbClr val="536477"/>
                          </a:solidFill>
                          <a:latin typeface="Nimbus Sans"/>
                          <a:ea typeface="Nimbus Sans"/>
                          <a:cs typeface="Nimbus Sans"/>
                        </a:rPr>
                        <a:t>the requirements?</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FFFFFF"/>
                    </a:solidFill>
                  </a:tcPr>
                </a:tc>
                <a:extLst>
                  <a:ext uri="{0D108BD9-81ED-4DB2-BD59-A6C34878D82A}">
                    <a16:rowId xmlns:a16="http://schemas.microsoft.com/office/drawing/2014/main" val="10001"/>
                  </a:ext>
                </a:extLst>
              </a:tr>
              <a:tr h="838200">
                <a:tc>
                  <a:txBody>
                    <a:bodyPr/>
                    <a:lstStyle/>
                    <a:p>
                      <a:pPr algn="l"/>
                      <a:r>
                        <a:rPr sz="1875" b="1">
                          <a:solidFill>
                            <a:srgbClr val="132439"/>
                          </a:solidFill>
                          <a:latin typeface="Nimbus Sans"/>
                          <a:ea typeface="Nimbus Sans"/>
                          <a:cs typeface="Nimbus Sans"/>
                        </a:rPr>
                        <a:t>Tests</a:t>
                      </a:r>
                    </a:p>
                  </a:txBody>
                  <a:tcPr anchor="ctr">
                    <a:lnL w="28575">
                      <a:solidFill>
                        <a:srgbClr val="F4F7F8"/>
                      </a:solidFill>
                      <a:prstDash val="soli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FFFFFF"/>
                    </a:solidFill>
                  </a:tcPr>
                </a:tc>
                <a:tc>
                  <a:txBody>
                    <a:bodyPr/>
                    <a:lstStyle/>
                    <a:p>
                      <a:pPr algn="l"/>
                      <a:r>
                        <a:rPr sz="1875" b="0">
                          <a:solidFill>
                            <a:srgbClr val="536477"/>
                          </a:solidFill>
                          <a:latin typeface="Nimbus Sans"/>
                          <a:ea typeface="Nimbus Sans"/>
                          <a:cs typeface="Nimbus Sans"/>
                        </a:rPr>
                        <a:t>Less repetitive test setup</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E7F3F5"/>
                    </a:solidFill>
                  </a:tcPr>
                </a:tc>
                <a:tc>
                  <a:txBody>
                    <a:bodyPr/>
                    <a:lstStyle/>
                    <a:p>
                      <a:pPr algn="l"/>
                      <a:r>
                        <a:rPr sz="1875" b="0">
                          <a:solidFill>
                            <a:srgbClr val="536477"/>
                          </a:solidFill>
                          <a:latin typeface="Nimbus Sans"/>
                          <a:ea typeface="Nimbus Sans"/>
                          <a:cs typeface="Nimbus Sans"/>
                        </a:rPr>
                        <a:t>Are assertions and</a:t>
                      </a:r>
                    </a:p>
                    <a:p>
                      <a:pPr algn="l"/>
                      <a:r>
                        <a:rPr sz="1875" b="0">
                          <a:solidFill>
                            <a:srgbClr val="536477"/>
                          </a:solidFill>
                          <a:latin typeface="Nimbus Sans"/>
                          <a:ea typeface="Nimbus Sans"/>
                          <a:cs typeface="Nimbus Sans"/>
                        </a:rPr>
                        <a:t>edge cases correct?</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FFFFFF"/>
                    </a:solidFill>
                  </a:tcPr>
                </a:tc>
                <a:extLst>
                  <a:ext uri="{0D108BD9-81ED-4DB2-BD59-A6C34878D82A}">
                    <a16:rowId xmlns:a16="http://schemas.microsoft.com/office/drawing/2014/main" val="10002"/>
                  </a:ext>
                </a:extLst>
              </a:tr>
              <a:tr h="838200">
                <a:tc>
                  <a:txBody>
                    <a:bodyPr/>
                    <a:lstStyle/>
                    <a:p>
                      <a:pPr algn="l"/>
                      <a:r>
                        <a:rPr sz="1875" b="1">
                          <a:solidFill>
                            <a:srgbClr val="132439"/>
                          </a:solidFill>
                          <a:latin typeface="Nimbus Sans"/>
                          <a:ea typeface="Nimbus Sans"/>
                          <a:cs typeface="Nimbus Sans"/>
                        </a:rPr>
                        <a:t>Documentation</a:t>
                      </a:r>
                    </a:p>
                  </a:txBody>
                  <a:tcPr anchor="ctr">
                    <a:lnL w="28575">
                      <a:solidFill>
                        <a:srgbClr val="F4F7F8"/>
                      </a:solidFill>
                      <a:prstDash val="soli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FFFFFF"/>
                    </a:solidFill>
                  </a:tcPr>
                </a:tc>
                <a:tc>
                  <a:txBody>
                    <a:bodyPr/>
                    <a:lstStyle/>
                    <a:p>
                      <a:pPr algn="l"/>
                      <a:r>
                        <a:rPr sz="1875" b="0">
                          <a:solidFill>
                            <a:srgbClr val="536477"/>
                          </a:solidFill>
                          <a:latin typeface="Nimbus Sans"/>
                          <a:ea typeface="Nimbus Sans"/>
                          <a:cs typeface="Nimbus Sans"/>
                        </a:rPr>
                        <a:t>A first draft inside the IDE</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E7F3F5"/>
                    </a:solidFill>
                  </a:tcPr>
                </a:tc>
                <a:tc>
                  <a:txBody>
                    <a:bodyPr/>
                    <a:lstStyle/>
                    <a:p>
                      <a:pPr algn="l"/>
                      <a:r>
                        <a:rPr sz="1875" b="0">
                          <a:solidFill>
                            <a:srgbClr val="536477"/>
                          </a:solidFill>
                          <a:latin typeface="Nimbus Sans"/>
                          <a:ea typeface="Nimbus Sans"/>
                          <a:cs typeface="Nimbus Sans"/>
                        </a:rPr>
                        <a:t>Does it match</a:t>
                      </a:r>
                    </a:p>
                    <a:p>
                      <a:pPr algn="l"/>
                      <a:r>
                        <a:rPr sz="1875" b="0">
                          <a:solidFill>
                            <a:srgbClr val="536477"/>
                          </a:solidFill>
                          <a:latin typeface="Nimbus Sans"/>
                          <a:ea typeface="Nimbus Sans"/>
                          <a:cs typeface="Nimbus Sans"/>
                        </a:rPr>
                        <a:t>the actual code?</a:t>
                      </a:r>
                    </a:p>
                  </a:txBody>
                  <a:tcPr anchor="ctr">
                    <a:lnL w="28575" cap="flat" cmpd="sng" algn="ctr">
                      <a:solidFill>
                        <a:srgbClr val="F4F7F8"/>
                      </a:solidFill>
                      <a:prstDash val="solid"/>
                      <a:round/>
                      <a:headEnd type="none" w="med" len="med"/>
                      <a:tailEnd type="none" w="med" len="med"/>
                    </a:lnL>
                    <a:lnR w="28575">
                      <a:solidFill>
                        <a:srgbClr val="F4F7F8"/>
                      </a:solidFill>
                      <a:prstDash val="solid"/>
                    </a:lnR>
                    <a:lnT w="28575" cap="flat" cmpd="sng" algn="ctr">
                      <a:solidFill>
                        <a:srgbClr val="F4F7F8"/>
                      </a:solidFill>
                      <a:prstDash val="solid"/>
                      <a:round/>
                      <a:headEnd type="none" w="med" len="med"/>
                      <a:tailEnd type="none" w="med" len="med"/>
                    </a:lnT>
                    <a:lnB w="28575">
                      <a:solidFill>
                        <a:srgbClr val="F4F7F8"/>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benefit-limit">
            <a:extLst>
              <a:ext uri="{FF2B5EF4-FFF2-40B4-BE49-F238E27FC236}">
                <a16:creationId xmlns:a16="http://schemas.microsoft.com/office/drawing/2014/main" id="{28F57260-EFBC-4049-9320-F5623163069D}"/>
              </a:ext>
            </a:extLst>
          </p:cNvPr>
          <p:cNvSpPr>
            <a:spLocks noGrp="1"/>
          </p:cNvSpPr>
          <p:nvPr/>
        </p:nvSpPr>
        <p:spPr>
          <a:xfrm>
            <a:off x="723900" y="5810250"/>
            <a:ext cx="10744200" cy="361950"/>
          </a:xfrm>
          <a:prstGeom prst="rect">
            <a:avLst/>
          </a:prstGeom>
          <a:noFill/>
          <a:ln w="0">
            <a:noFill/>
            <a:prstDash val="solid"/>
          </a:ln>
        </p:spPr>
        <p:txBody>
          <a:bodyPr wrap="square" lIns="0" tIns="0" rIns="0" bIns="0" anchor="t">
            <a:noAutofit/>
          </a:bodyPr>
          <a:lstStyle>
            <a:defPPr algn="l">
              <a:defRPr sz="2175" b="1">
                <a:solidFill>
                  <a:srgbClr val="087F8C"/>
                </a:solidFill>
                <a:latin typeface="Nimbus Sans"/>
                <a:ea typeface="Nimbus Sans"/>
                <a:cs typeface="Nimbus Sans"/>
              </a:defRPr>
            </a:defPPr>
          </a:lstStyle>
          <a:p>
            <a:pPr algn="l">
              <a:defRPr sz="2175" b="1">
                <a:solidFill>
                  <a:srgbClr val="087F8C"/>
                </a:solidFill>
                <a:latin typeface="Nimbus Sans"/>
                <a:ea typeface="Nimbus Sans"/>
                <a:cs typeface="Nimbus Sans"/>
              </a:defRPr>
            </a:pPr>
            <a:r>
              <a:rPr sz="2175" b="1">
                <a:solidFill>
                  <a:srgbClr val="087F8C"/>
                </a:solidFill>
                <a:latin typeface="Nimbus Sans"/>
                <a:ea typeface="Nimbus Sans"/>
                <a:cs typeface="Nimbus Sans"/>
              </a:rPr>
              <a:t>Time savings depend on the task and review effort</a:t>
            </a:r>
          </a:p>
        </p:txBody>
      </p:sp>
      <p:sp>
        <p:nvSpPr>
          <p:cNvPr id="5" name="source">
            <a:extLst>
              <a:ext uri="{FF2B5EF4-FFF2-40B4-BE49-F238E27FC236}">
                <a16:creationId xmlns:a16="http://schemas.microsoft.com/office/drawing/2014/main" id="{3EDC4DAD-4431-4A0B-8386-2AAA61175BE3}"/>
              </a:ext>
            </a:extLst>
          </p:cNvPr>
          <p:cNvSpPr>
            <a:spLocks noGrp="1"/>
          </p:cNvSpPr>
          <p:nvPr/>
        </p:nvSpPr>
        <p:spPr>
          <a:xfrm>
            <a:off x="704850" y="6324600"/>
            <a:ext cx="10782300" cy="247650"/>
          </a:xfrm>
          <a:prstGeom prst="rect">
            <a:avLst/>
          </a:prstGeom>
          <a:noFill/>
          <a:ln w="0">
            <a:noFill/>
            <a:prstDash val="solid"/>
          </a:ln>
        </p:spPr>
        <p:txBody>
          <a:bodyPr wrap="square" lIns="0" tIns="0" rIns="0" bIns="0" anchor="t">
            <a:noAutofit/>
          </a:bodyPr>
          <a:lstStyle>
            <a:defPPr algn="l">
              <a:defRPr sz="1275" b="0">
                <a:solidFill>
                  <a:srgbClr val="536477"/>
                </a:solidFill>
                <a:latin typeface="Nimbus Sans"/>
                <a:ea typeface="Nimbus Sans"/>
                <a:cs typeface="Nimbus Sans"/>
              </a:defRPr>
            </a:defPPr>
          </a:lstStyle>
          <a:p>
            <a:pPr algn="l">
              <a:defRPr sz="1275" b="0">
                <a:solidFill>
                  <a:srgbClr val="536477"/>
                </a:solidFill>
                <a:latin typeface="Nimbus Sans"/>
                <a:ea typeface="Nimbus Sans"/>
                <a:cs typeface="Nimbus Sans"/>
              </a:defRPr>
            </a:pPr>
            <a:r>
              <a:rPr sz="1275" b="0">
                <a:solidFill>
                  <a:srgbClr val="536477"/>
                </a:solidFill>
                <a:latin typeface="Nimbus Sans"/>
                <a:ea typeface="Nimbus Sans"/>
                <a:cs typeface="Nimbus Sans"/>
              </a:rPr>
              <a:t>Sources: GitHub Docs. Benefits are potential, not a measured productivity improvement.</a:t>
            </a:r>
          </a:p>
        </p:txBody>
      </p:sp>
    </p:spTree>
    <p:extLst>
      <p:ext uri="{BB962C8B-B14F-4D97-AF65-F5344CB8AC3E}">
        <p14:creationId xmlns:p14="http://schemas.microsoft.com/office/powerpoint/2010/main" val="1988970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5" name="title">
            <a:extLst>
              <a:ext uri="{FF2B5EF4-FFF2-40B4-BE49-F238E27FC236}">
                <a16:creationId xmlns:a16="http://schemas.microsoft.com/office/drawing/2014/main" id="{4DF51A0F-62DD-4B98-B389-FFF270695A54}"/>
              </a:ext>
            </a:extLst>
          </p:cNvPr>
          <p:cNvSpPr>
            <a:spLocks noGrp="1"/>
          </p:cNvSpPr>
          <p:nvPr/>
        </p:nvSpPr>
        <p:spPr>
          <a:xfrm>
            <a:off x="704850" y="581025"/>
            <a:ext cx="10782300" cy="647700"/>
          </a:xfrm>
          <a:prstGeom prst="rect">
            <a:avLst/>
          </a:prstGeom>
          <a:noFill/>
          <a:ln w="0">
            <a:noFill/>
            <a:prstDash val="solid"/>
          </a:ln>
        </p:spPr>
        <p:txBody>
          <a:bodyPr wrap="square" lIns="0" tIns="0" rIns="0" bIns="0" anchor="t">
            <a:noAutofit/>
          </a:bodyPr>
          <a:lstStyle>
            <a:defPPr algn="l">
              <a:defRPr sz="3750" b="1">
                <a:solidFill>
                  <a:srgbClr val="132439"/>
                </a:solidFill>
                <a:latin typeface="Nimbus Sans"/>
                <a:ea typeface="Nimbus Sans"/>
                <a:cs typeface="Nimbus Sans"/>
              </a:defRPr>
            </a:defPPr>
          </a:lstStyle>
          <a:p>
            <a:pPr algn="l">
              <a:defRPr sz="3750" b="1">
                <a:solidFill>
                  <a:srgbClr val="132439"/>
                </a:solidFill>
                <a:latin typeface="Nimbus Sans"/>
                <a:ea typeface="Nimbus Sans"/>
                <a:cs typeface="Nimbus Sans"/>
              </a:defRPr>
            </a:pPr>
            <a:r>
              <a:rPr sz="3750" b="1">
                <a:solidFill>
                  <a:srgbClr val="132439"/>
                </a:solidFill>
                <a:latin typeface="Nimbus Sans"/>
                <a:ea typeface="Nimbus Sans"/>
                <a:cs typeface="Nimbus Sans"/>
              </a:rPr>
              <a:t>Sources for the opening section</a:t>
            </a:r>
          </a:p>
        </p:txBody>
      </p:sp>
      <p:sp>
        <p:nvSpPr>
          <p:cNvPr id="2" name="ref-name-0">
            <a:extLst>
              <a:ext uri="{FF2B5EF4-FFF2-40B4-BE49-F238E27FC236}">
                <a16:creationId xmlns:a16="http://schemas.microsoft.com/office/drawing/2014/main" id="{7D06A3CA-2528-4C31-BA6A-4363166C91CC}"/>
              </a:ext>
            </a:extLst>
          </p:cNvPr>
          <p:cNvSpPr>
            <a:spLocks noGrp="1"/>
          </p:cNvSpPr>
          <p:nvPr/>
        </p:nvSpPr>
        <p:spPr>
          <a:xfrm>
            <a:off x="723900" y="1571625"/>
            <a:ext cx="10744200" cy="342900"/>
          </a:xfrm>
          <a:prstGeom prst="rect">
            <a:avLst/>
          </a:prstGeom>
          <a:noFill/>
          <a:ln w="0">
            <a:noFill/>
            <a:prstDash val="solid"/>
          </a:ln>
        </p:spPr>
        <p:txBody>
          <a:bodyPr wrap="square" lIns="0" tIns="0" rIns="0" bIns="0" anchor="t">
            <a:noAutofit/>
          </a:bodyPr>
          <a:lstStyle>
            <a:defPPr algn="l">
              <a:defRPr sz="2025" b="1">
                <a:solidFill>
                  <a:srgbClr val="087F8C"/>
                </a:solidFill>
                <a:latin typeface="Nimbus Sans"/>
                <a:ea typeface="Nimbus Sans"/>
                <a:cs typeface="Nimbus Sans"/>
              </a:defRPr>
            </a:defPPr>
          </a:lstStyle>
          <a:p>
            <a:pPr algn="l">
              <a:defRPr sz="2025" b="1">
                <a:solidFill>
                  <a:srgbClr val="087F8C"/>
                </a:solidFill>
                <a:latin typeface="Nimbus Sans"/>
                <a:ea typeface="Nimbus Sans"/>
                <a:cs typeface="Nimbus Sans"/>
              </a:defRPr>
            </a:pPr>
            <a:r>
              <a:rPr sz="2025" b="1">
                <a:solidFill>
                  <a:srgbClr val="087F8C"/>
                </a:solidFill>
                <a:latin typeface="Nimbus Sans"/>
                <a:ea typeface="Nimbus Sans"/>
                <a:cs typeface="Nimbus Sans"/>
              </a:rPr>
              <a:t>GitHub Changelog</a:t>
            </a:r>
          </a:p>
        </p:txBody>
      </p:sp>
      <p:sp>
        <p:nvSpPr>
          <p:cNvPr id="3" name="ref-description-0">
            <a:extLst>
              <a:ext uri="{FF2B5EF4-FFF2-40B4-BE49-F238E27FC236}">
                <a16:creationId xmlns:a16="http://schemas.microsoft.com/office/drawing/2014/main" id="{14996F8A-8052-4AB6-9A66-76620A90B288}"/>
              </a:ext>
            </a:extLst>
          </p:cNvPr>
          <p:cNvSpPr>
            <a:spLocks noGrp="1"/>
          </p:cNvSpPr>
          <p:nvPr/>
        </p:nvSpPr>
        <p:spPr>
          <a:xfrm>
            <a:off x="723900" y="1933575"/>
            <a:ext cx="10744200" cy="314325"/>
          </a:xfrm>
          <a:prstGeom prst="rect">
            <a:avLst/>
          </a:prstGeom>
          <a:noFill/>
          <a:ln w="0">
            <a:noFill/>
            <a:prstDash val="solid"/>
          </a:ln>
        </p:spPr>
        <p:txBody>
          <a:bodyPr wrap="square" lIns="0" tIns="0" rIns="0" bIns="0" anchor="t">
            <a:noAutofit/>
          </a:bodyPr>
          <a:lstStyle>
            <a:defPPr algn="l">
              <a:defRPr sz="1875" b="0">
                <a:solidFill>
                  <a:srgbClr val="132439"/>
                </a:solidFill>
                <a:latin typeface="Nimbus Sans"/>
                <a:ea typeface="Nimbus Sans"/>
                <a:cs typeface="Nimbus Sans"/>
              </a:defRPr>
            </a:defPPr>
          </a:lstStyle>
          <a:p>
            <a:pPr algn="l">
              <a:defRPr sz="1875" b="0">
                <a:solidFill>
                  <a:srgbClr val="132439"/>
                </a:solidFill>
                <a:latin typeface="Nimbus Sans"/>
                <a:ea typeface="Nimbus Sans"/>
                <a:cs typeface="Nimbus Sans"/>
              </a:defRPr>
            </a:pPr>
            <a:r>
              <a:rPr sz="1875" b="0">
                <a:solidFill>
                  <a:srgbClr val="132439"/>
                </a:solidFill>
                <a:latin typeface="Nimbus Sans"/>
                <a:ea typeface="Nimbus Sans"/>
                <a:cs typeface="Nimbus Sans"/>
              </a:rPr>
              <a:t>Copilot integration announcement, 30 June 2026</a:t>
            </a:r>
          </a:p>
        </p:txBody>
      </p:sp>
      <p:sp>
        <p:nvSpPr>
          <p:cNvPr id="4" name="ref-url-0">
            <a:extLst>
              <a:ext uri="{FF2B5EF4-FFF2-40B4-BE49-F238E27FC236}">
                <a16:creationId xmlns:a16="http://schemas.microsoft.com/office/drawing/2014/main" id="{2B1A16BD-9ADC-4928-8F92-6A0F0EE1E2EE}"/>
              </a:ext>
            </a:extLst>
          </p:cNvPr>
          <p:cNvSpPr>
            <a:spLocks noGrp="1"/>
          </p:cNvSpPr>
          <p:nvPr/>
        </p:nvSpPr>
        <p:spPr>
          <a:xfrm>
            <a:off x="723900" y="2276475"/>
            <a:ext cx="10744200" cy="333375"/>
          </a:xfrm>
          <a:prstGeom prst="rect">
            <a:avLst/>
          </a:prstGeom>
          <a:noFill/>
          <a:ln w="0">
            <a:noFill/>
            <a:prstDash val="solid"/>
          </a:ln>
        </p:spPr>
        <p:txBody>
          <a:bodyPr wrap="square" lIns="0" tIns="0" rIns="0" bIns="0" anchor="t">
            <a:noAutofit/>
          </a:bodyPr>
          <a:lstStyle>
            <a:defPPr algn="l">
              <a:defRPr sz="1350" b="0">
                <a:solidFill>
                  <a:srgbClr val="536477"/>
                </a:solidFill>
                <a:latin typeface="Nimbus Sans"/>
                <a:ea typeface="Nimbus Sans"/>
                <a:cs typeface="Nimbus Sans"/>
              </a:defRPr>
            </a:defPPr>
          </a:lstStyle>
          <a:p>
            <a:pPr algn="l">
              <a:defRPr sz="1350" b="0">
                <a:solidFill>
                  <a:srgbClr val="536477"/>
                </a:solidFill>
                <a:latin typeface="Nimbus Sans"/>
                <a:ea typeface="Nimbus Sans"/>
                <a:cs typeface="Nimbus Sans"/>
              </a:defRPr>
            </a:pPr>
            <a:r>
              <a:rPr sz="1350" b="0">
                <a:solidFill>
                  <a:srgbClr val="536477"/>
                </a:solidFill>
                <a:latin typeface="Nimbus Sans"/>
                <a:ea typeface="Nimbus Sans"/>
                <a:cs typeface="Nimbus Sans"/>
              </a:rPr>
              <a:t>github.blog/changelog/2026-06-30-copilot-agent-is-now-available-in-jetbrains-ai-assistant/</a:t>
            </a:r>
          </a:p>
        </p:txBody>
      </p:sp>
      <p:sp>
        <p:nvSpPr>
          <p:cNvPr id="5" name="ref-name-1">
            <a:extLst>
              <a:ext uri="{FF2B5EF4-FFF2-40B4-BE49-F238E27FC236}">
                <a16:creationId xmlns:a16="http://schemas.microsoft.com/office/drawing/2014/main" id="{6007F0E2-E89E-4C2B-B1C9-F9972ED83FAB}"/>
              </a:ext>
            </a:extLst>
          </p:cNvPr>
          <p:cNvSpPr>
            <a:spLocks noGrp="1"/>
          </p:cNvSpPr>
          <p:nvPr/>
        </p:nvSpPr>
        <p:spPr>
          <a:xfrm>
            <a:off x="723900" y="2695575"/>
            <a:ext cx="10744200" cy="342900"/>
          </a:xfrm>
          <a:prstGeom prst="rect">
            <a:avLst/>
          </a:prstGeom>
          <a:noFill/>
          <a:ln w="0">
            <a:noFill/>
            <a:prstDash val="solid"/>
          </a:ln>
        </p:spPr>
        <p:txBody>
          <a:bodyPr wrap="square" lIns="0" tIns="0" rIns="0" bIns="0" anchor="t">
            <a:noAutofit/>
          </a:bodyPr>
          <a:lstStyle>
            <a:defPPr algn="l">
              <a:defRPr sz="2025" b="1">
                <a:solidFill>
                  <a:srgbClr val="087F8C"/>
                </a:solidFill>
                <a:latin typeface="Nimbus Sans"/>
                <a:ea typeface="Nimbus Sans"/>
                <a:cs typeface="Nimbus Sans"/>
              </a:defRPr>
            </a:defPPr>
          </a:lstStyle>
          <a:p>
            <a:pPr algn="l">
              <a:defRPr sz="2025" b="1">
                <a:solidFill>
                  <a:srgbClr val="087F8C"/>
                </a:solidFill>
                <a:latin typeface="Nimbus Sans"/>
                <a:ea typeface="Nimbus Sans"/>
                <a:cs typeface="Nimbus Sans"/>
              </a:defRPr>
            </a:pPr>
            <a:r>
              <a:rPr sz="2025" b="1">
                <a:solidFill>
                  <a:srgbClr val="087F8C"/>
                </a:solidFill>
                <a:latin typeface="Nimbus Sans"/>
                <a:ea typeface="Nimbus Sans"/>
                <a:cs typeface="Nimbus Sans"/>
              </a:rPr>
              <a:t>JetBrains Blog</a:t>
            </a:r>
          </a:p>
        </p:txBody>
      </p:sp>
      <p:sp>
        <p:nvSpPr>
          <p:cNvPr id="6" name="ref-description-1">
            <a:extLst>
              <a:ext uri="{FF2B5EF4-FFF2-40B4-BE49-F238E27FC236}">
                <a16:creationId xmlns:a16="http://schemas.microsoft.com/office/drawing/2014/main" id="{64B9ED77-BAF4-4DFF-9166-79F344923B72}"/>
              </a:ext>
            </a:extLst>
          </p:cNvPr>
          <p:cNvSpPr>
            <a:spLocks noGrp="1"/>
          </p:cNvSpPr>
          <p:nvPr/>
        </p:nvSpPr>
        <p:spPr>
          <a:xfrm>
            <a:off x="723900" y="3057525"/>
            <a:ext cx="10744200" cy="314325"/>
          </a:xfrm>
          <a:prstGeom prst="rect">
            <a:avLst/>
          </a:prstGeom>
          <a:noFill/>
          <a:ln w="0">
            <a:noFill/>
            <a:prstDash val="solid"/>
          </a:ln>
        </p:spPr>
        <p:txBody>
          <a:bodyPr wrap="square" lIns="0" tIns="0" rIns="0" bIns="0" anchor="t">
            <a:noAutofit/>
          </a:bodyPr>
          <a:lstStyle>
            <a:defPPr algn="l">
              <a:defRPr sz="1875" b="0">
                <a:solidFill>
                  <a:srgbClr val="132439"/>
                </a:solidFill>
                <a:latin typeface="Nimbus Sans"/>
                <a:ea typeface="Nimbus Sans"/>
                <a:cs typeface="Nimbus Sans"/>
              </a:defRPr>
            </a:defPPr>
          </a:lstStyle>
          <a:p>
            <a:pPr algn="l">
              <a:defRPr sz="1875" b="0">
                <a:solidFill>
                  <a:srgbClr val="132439"/>
                </a:solidFill>
                <a:latin typeface="Nimbus Sans"/>
                <a:ea typeface="Nimbus Sans"/>
                <a:cs typeface="Nimbus Sans"/>
              </a:defRPr>
            </a:pPr>
            <a:r>
              <a:rPr sz="1875" b="0">
                <a:solidFill>
                  <a:srgbClr val="132439"/>
                </a:solidFill>
                <a:latin typeface="Nimbus Sans"/>
                <a:ea typeface="Nimbus Sans"/>
                <a:cs typeface="Nimbus Sans"/>
              </a:rPr>
              <a:t>Native integration and the official product screenshot, June 2026</a:t>
            </a:r>
          </a:p>
        </p:txBody>
      </p:sp>
      <p:sp>
        <p:nvSpPr>
          <p:cNvPr id="7" name="ref-url-1">
            <a:extLst>
              <a:ext uri="{FF2B5EF4-FFF2-40B4-BE49-F238E27FC236}">
                <a16:creationId xmlns:a16="http://schemas.microsoft.com/office/drawing/2014/main" id="{6320F308-F735-4F82-AD10-2F523714A5FC}"/>
              </a:ext>
            </a:extLst>
          </p:cNvPr>
          <p:cNvSpPr>
            <a:spLocks noGrp="1"/>
          </p:cNvSpPr>
          <p:nvPr/>
        </p:nvSpPr>
        <p:spPr>
          <a:xfrm>
            <a:off x="723900" y="3400425"/>
            <a:ext cx="10744200" cy="333375"/>
          </a:xfrm>
          <a:prstGeom prst="rect">
            <a:avLst/>
          </a:prstGeom>
          <a:noFill/>
          <a:ln w="0">
            <a:noFill/>
            <a:prstDash val="solid"/>
          </a:ln>
        </p:spPr>
        <p:txBody>
          <a:bodyPr wrap="square" lIns="0" tIns="0" rIns="0" bIns="0" anchor="t">
            <a:noAutofit/>
          </a:bodyPr>
          <a:lstStyle>
            <a:defPPr algn="l">
              <a:defRPr sz="1350" b="0">
                <a:solidFill>
                  <a:srgbClr val="536477"/>
                </a:solidFill>
                <a:latin typeface="Nimbus Sans"/>
                <a:ea typeface="Nimbus Sans"/>
                <a:cs typeface="Nimbus Sans"/>
              </a:defRPr>
            </a:defPPr>
          </a:lstStyle>
          <a:p>
            <a:pPr algn="l">
              <a:defRPr sz="1350" b="0">
                <a:solidFill>
                  <a:srgbClr val="536477"/>
                </a:solidFill>
                <a:latin typeface="Nimbus Sans"/>
                <a:ea typeface="Nimbus Sans"/>
                <a:cs typeface="Nimbus Sans"/>
              </a:defRPr>
            </a:pPr>
            <a:r>
              <a:rPr sz="1350" b="0">
                <a:solidFill>
                  <a:srgbClr val="536477"/>
                </a:solidFill>
                <a:latin typeface="Nimbus Sans"/>
                <a:ea typeface="Nimbus Sans"/>
                <a:cs typeface="Nimbus Sans"/>
              </a:rPr>
              <a:t>blog.jetbrains.com/ai/2026/06/github-copilot-now-an-integrated-agent/</a:t>
            </a:r>
          </a:p>
        </p:txBody>
      </p:sp>
      <p:sp>
        <p:nvSpPr>
          <p:cNvPr id="8" name="ref-name-2">
            <a:extLst>
              <a:ext uri="{FF2B5EF4-FFF2-40B4-BE49-F238E27FC236}">
                <a16:creationId xmlns:a16="http://schemas.microsoft.com/office/drawing/2014/main" id="{E18C7D47-61B3-471E-9B31-D41C9D323349}"/>
              </a:ext>
            </a:extLst>
          </p:cNvPr>
          <p:cNvSpPr>
            <a:spLocks noGrp="1"/>
          </p:cNvSpPr>
          <p:nvPr/>
        </p:nvSpPr>
        <p:spPr>
          <a:xfrm>
            <a:off x="723900" y="3819525"/>
            <a:ext cx="10744200" cy="342900"/>
          </a:xfrm>
          <a:prstGeom prst="rect">
            <a:avLst/>
          </a:prstGeom>
          <a:noFill/>
          <a:ln w="0">
            <a:noFill/>
            <a:prstDash val="solid"/>
          </a:ln>
        </p:spPr>
        <p:txBody>
          <a:bodyPr wrap="square" lIns="0" tIns="0" rIns="0" bIns="0" anchor="t">
            <a:noAutofit/>
          </a:bodyPr>
          <a:lstStyle>
            <a:defPPr algn="l">
              <a:defRPr sz="2025" b="1">
                <a:solidFill>
                  <a:srgbClr val="087F8C"/>
                </a:solidFill>
                <a:latin typeface="Nimbus Sans"/>
                <a:ea typeface="Nimbus Sans"/>
                <a:cs typeface="Nimbus Sans"/>
              </a:defRPr>
            </a:defPPr>
          </a:lstStyle>
          <a:p>
            <a:pPr algn="l">
              <a:defRPr sz="2025" b="1">
                <a:solidFill>
                  <a:srgbClr val="087F8C"/>
                </a:solidFill>
                <a:latin typeface="Nimbus Sans"/>
                <a:ea typeface="Nimbus Sans"/>
                <a:cs typeface="Nimbus Sans"/>
              </a:defRPr>
            </a:pPr>
            <a:r>
              <a:rPr sz="2025" b="1">
                <a:solidFill>
                  <a:srgbClr val="087F8C"/>
                </a:solidFill>
                <a:latin typeface="Nimbus Sans"/>
                <a:ea typeface="Nimbus Sans"/>
                <a:cs typeface="Nimbus Sans"/>
              </a:rPr>
              <a:t>GitHub Docs</a:t>
            </a:r>
          </a:p>
        </p:txBody>
      </p:sp>
      <p:sp>
        <p:nvSpPr>
          <p:cNvPr id="9" name="ref-description-2">
            <a:extLst>
              <a:ext uri="{FF2B5EF4-FFF2-40B4-BE49-F238E27FC236}">
                <a16:creationId xmlns:a16="http://schemas.microsoft.com/office/drawing/2014/main" id="{DE362CF0-A256-423A-BAE6-0C38183A5A89}"/>
              </a:ext>
            </a:extLst>
          </p:cNvPr>
          <p:cNvSpPr>
            <a:spLocks noGrp="1"/>
          </p:cNvSpPr>
          <p:nvPr/>
        </p:nvSpPr>
        <p:spPr>
          <a:xfrm>
            <a:off x="723900" y="4181475"/>
            <a:ext cx="10744200" cy="314325"/>
          </a:xfrm>
          <a:prstGeom prst="rect">
            <a:avLst/>
          </a:prstGeom>
          <a:noFill/>
          <a:ln w="0">
            <a:noFill/>
            <a:prstDash val="solid"/>
          </a:ln>
        </p:spPr>
        <p:txBody>
          <a:bodyPr wrap="square" lIns="0" tIns="0" rIns="0" bIns="0" anchor="t">
            <a:noAutofit/>
          </a:bodyPr>
          <a:lstStyle>
            <a:defPPr algn="l">
              <a:defRPr sz="1875" b="0">
                <a:solidFill>
                  <a:srgbClr val="132439"/>
                </a:solidFill>
                <a:latin typeface="Nimbus Sans"/>
                <a:ea typeface="Nimbus Sans"/>
                <a:cs typeface="Nimbus Sans"/>
              </a:defRPr>
            </a:defPPr>
          </a:lstStyle>
          <a:p>
            <a:pPr algn="l">
              <a:defRPr sz="1875" b="0">
                <a:solidFill>
                  <a:srgbClr val="132439"/>
                </a:solidFill>
                <a:latin typeface="Nimbus Sans"/>
                <a:ea typeface="Nimbus Sans"/>
                <a:cs typeface="Nimbus Sans"/>
              </a:defRPr>
            </a:pPr>
            <a:r>
              <a:rPr sz="1875" b="0">
                <a:solidFill>
                  <a:srgbClr val="132439"/>
                </a:solidFill>
                <a:latin typeface="Nimbus Sans"/>
                <a:ea typeface="Nimbus Sans"/>
                <a:cs typeface="Nimbus Sans"/>
              </a:rPr>
              <a:t>Agent workflow, tool use and developer review</a:t>
            </a:r>
          </a:p>
        </p:txBody>
      </p:sp>
      <p:sp>
        <p:nvSpPr>
          <p:cNvPr id="10" name="ref-url-2">
            <a:extLst>
              <a:ext uri="{FF2B5EF4-FFF2-40B4-BE49-F238E27FC236}">
                <a16:creationId xmlns:a16="http://schemas.microsoft.com/office/drawing/2014/main" id="{0DC5C416-13A7-469F-83F3-2A0849808FBF}"/>
              </a:ext>
            </a:extLst>
          </p:cNvPr>
          <p:cNvSpPr>
            <a:spLocks noGrp="1"/>
          </p:cNvSpPr>
          <p:nvPr/>
        </p:nvSpPr>
        <p:spPr>
          <a:xfrm>
            <a:off x="723900" y="4524375"/>
            <a:ext cx="10744200" cy="333375"/>
          </a:xfrm>
          <a:prstGeom prst="rect">
            <a:avLst/>
          </a:prstGeom>
          <a:noFill/>
          <a:ln w="0">
            <a:noFill/>
            <a:prstDash val="solid"/>
          </a:ln>
        </p:spPr>
        <p:txBody>
          <a:bodyPr wrap="square" lIns="0" tIns="0" rIns="0" bIns="0" anchor="t">
            <a:noAutofit/>
          </a:bodyPr>
          <a:lstStyle>
            <a:defPPr algn="l">
              <a:defRPr sz="1350" b="0">
                <a:solidFill>
                  <a:srgbClr val="536477"/>
                </a:solidFill>
                <a:latin typeface="Nimbus Sans"/>
                <a:ea typeface="Nimbus Sans"/>
                <a:cs typeface="Nimbus Sans"/>
              </a:defRPr>
            </a:defPPr>
          </a:lstStyle>
          <a:p>
            <a:pPr algn="l">
              <a:defRPr sz="1350" b="0">
                <a:solidFill>
                  <a:srgbClr val="536477"/>
                </a:solidFill>
                <a:latin typeface="Nimbus Sans"/>
                <a:ea typeface="Nimbus Sans"/>
                <a:cs typeface="Nimbus Sans"/>
              </a:defRPr>
            </a:pPr>
            <a:r>
              <a:rPr sz="1350" b="0">
                <a:solidFill>
                  <a:srgbClr val="536477"/>
                </a:solidFill>
                <a:latin typeface="Nimbus Sans"/>
                <a:ea typeface="Nimbus Sans"/>
                <a:cs typeface="Nimbus Sans"/>
              </a:rPr>
              <a:t>docs.github.com/en/copilot/how-tos/copilot-in-your-ide/use-copilot-agents/use-agent-mode</a:t>
            </a:r>
          </a:p>
        </p:txBody>
      </p:sp>
      <p:sp>
        <p:nvSpPr>
          <p:cNvPr id="11" name="ref-name-3">
            <a:extLst>
              <a:ext uri="{FF2B5EF4-FFF2-40B4-BE49-F238E27FC236}">
                <a16:creationId xmlns:a16="http://schemas.microsoft.com/office/drawing/2014/main" id="{92CBF9E1-8FC0-40C3-8813-68B67055B836}"/>
              </a:ext>
            </a:extLst>
          </p:cNvPr>
          <p:cNvSpPr>
            <a:spLocks noGrp="1"/>
          </p:cNvSpPr>
          <p:nvPr/>
        </p:nvSpPr>
        <p:spPr>
          <a:xfrm>
            <a:off x="723900" y="4943475"/>
            <a:ext cx="10744200" cy="342900"/>
          </a:xfrm>
          <a:prstGeom prst="rect">
            <a:avLst/>
          </a:prstGeom>
          <a:noFill/>
          <a:ln w="0">
            <a:noFill/>
            <a:prstDash val="solid"/>
          </a:ln>
        </p:spPr>
        <p:txBody>
          <a:bodyPr wrap="square" lIns="0" tIns="0" rIns="0" bIns="0" anchor="t">
            <a:noAutofit/>
          </a:bodyPr>
          <a:lstStyle>
            <a:defPPr algn="l">
              <a:defRPr sz="2025" b="1">
                <a:solidFill>
                  <a:srgbClr val="087F8C"/>
                </a:solidFill>
                <a:latin typeface="Nimbus Sans"/>
                <a:ea typeface="Nimbus Sans"/>
                <a:cs typeface="Nimbus Sans"/>
              </a:defRPr>
            </a:defPPr>
          </a:lstStyle>
          <a:p>
            <a:pPr algn="l">
              <a:defRPr sz="2025" b="1">
                <a:solidFill>
                  <a:srgbClr val="087F8C"/>
                </a:solidFill>
                <a:latin typeface="Nimbus Sans"/>
                <a:ea typeface="Nimbus Sans"/>
                <a:cs typeface="Nimbus Sans"/>
              </a:defRPr>
            </a:pPr>
            <a:r>
              <a:rPr sz="2025" b="1">
                <a:solidFill>
                  <a:srgbClr val="087F8C"/>
                </a:solidFill>
                <a:latin typeface="Nimbus Sans"/>
                <a:ea typeface="Nimbus Sans"/>
                <a:cs typeface="Nimbus Sans"/>
              </a:rPr>
              <a:t>GitHub Docs</a:t>
            </a:r>
          </a:p>
        </p:txBody>
      </p:sp>
      <p:sp>
        <p:nvSpPr>
          <p:cNvPr id="12" name="ref-description-3">
            <a:extLst>
              <a:ext uri="{FF2B5EF4-FFF2-40B4-BE49-F238E27FC236}">
                <a16:creationId xmlns:a16="http://schemas.microsoft.com/office/drawing/2014/main" id="{E1DC4A4A-ECC1-45E3-AEE6-9A82783D10D3}"/>
              </a:ext>
            </a:extLst>
          </p:cNvPr>
          <p:cNvSpPr>
            <a:spLocks noGrp="1"/>
          </p:cNvSpPr>
          <p:nvPr/>
        </p:nvSpPr>
        <p:spPr>
          <a:xfrm>
            <a:off x="723900" y="5305425"/>
            <a:ext cx="10744200" cy="314325"/>
          </a:xfrm>
          <a:prstGeom prst="rect">
            <a:avLst/>
          </a:prstGeom>
          <a:noFill/>
          <a:ln w="0">
            <a:noFill/>
            <a:prstDash val="solid"/>
          </a:ln>
        </p:spPr>
        <p:txBody>
          <a:bodyPr wrap="square" lIns="0" tIns="0" rIns="0" bIns="0" anchor="t">
            <a:noAutofit/>
          </a:bodyPr>
          <a:lstStyle>
            <a:defPPr algn="l">
              <a:defRPr sz="1875" b="0">
                <a:solidFill>
                  <a:srgbClr val="132439"/>
                </a:solidFill>
                <a:latin typeface="Nimbus Sans"/>
                <a:ea typeface="Nimbus Sans"/>
                <a:cs typeface="Nimbus Sans"/>
              </a:defRPr>
            </a:defPPr>
          </a:lstStyle>
          <a:p>
            <a:pPr algn="l">
              <a:defRPr sz="1875" b="0">
                <a:solidFill>
                  <a:srgbClr val="132439"/>
                </a:solidFill>
                <a:latin typeface="Nimbus Sans"/>
                <a:ea typeface="Nimbus Sans"/>
                <a:cs typeface="Nimbus Sans"/>
              </a:defRPr>
            </a:pPr>
            <a:r>
              <a:rPr sz="1875" b="0">
                <a:solidFill>
                  <a:srgbClr val="132439"/>
                </a:solidFill>
                <a:latin typeface="Nimbus Sans"/>
                <a:ea typeface="Nimbus Sans"/>
                <a:cs typeface="Nimbus Sans"/>
              </a:rPr>
              <a:t>Tests, fixes and documentation workflows</a:t>
            </a:r>
          </a:p>
        </p:txBody>
      </p:sp>
      <p:sp>
        <p:nvSpPr>
          <p:cNvPr id="13" name="ref-url-3">
            <a:extLst>
              <a:ext uri="{FF2B5EF4-FFF2-40B4-BE49-F238E27FC236}">
                <a16:creationId xmlns:a16="http://schemas.microsoft.com/office/drawing/2014/main" id="{5CE259D6-652F-4AE0-96F7-E10A1B26D0BF}"/>
              </a:ext>
            </a:extLst>
          </p:cNvPr>
          <p:cNvSpPr>
            <a:spLocks noGrp="1"/>
          </p:cNvSpPr>
          <p:nvPr/>
        </p:nvSpPr>
        <p:spPr>
          <a:xfrm>
            <a:off x="723900" y="5648325"/>
            <a:ext cx="10744200" cy="333375"/>
          </a:xfrm>
          <a:prstGeom prst="rect">
            <a:avLst/>
          </a:prstGeom>
          <a:noFill/>
          <a:ln w="0">
            <a:noFill/>
            <a:prstDash val="solid"/>
          </a:ln>
        </p:spPr>
        <p:txBody>
          <a:bodyPr wrap="square" lIns="0" tIns="0" rIns="0" bIns="0" anchor="t">
            <a:noAutofit/>
          </a:bodyPr>
          <a:lstStyle>
            <a:defPPr algn="l">
              <a:defRPr sz="1350" b="0">
                <a:solidFill>
                  <a:srgbClr val="536477"/>
                </a:solidFill>
                <a:latin typeface="Nimbus Sans"/>
                <a:ea typeface="Nimbus Sans"/>
                <a:cs typeface="Nimbus Sans"/>
              </a:defRPr>
            </a:defPPr>
          </a:lstStyle>
          <a:p>
            <a:pPr algn="l">
              <a:defRPr sz="1350" b="0">
                <a:solidFill>
                  <a:srgbClr val="536477"/>
                </a:solidFill>
                <a:latin typeface="Nimbus Sans"/>
                <a:ea typeface="Nimbus Sans"/>
                <a:cs typeface="Nimbus Sans"/>
              </a:defRPr>
            </a:pPr>
            <a:r>
              <a:rPr sz="1350" b="0">
                <a:solidFill>
                  <a:srgbClr val="536477"/>
                </a:solidFill>
                <a:latin typeface="Nimbus Sans"/>
                <a:ea typeface="Nimbus Sans"/>
                <a:cs typeface="Nimbus Sans"/>
              </a:rPr>
              <a:t>docs.github.com/en/copilot/how-tos/copilot-in-your-ide/chat-with-copilot/chat-in-ide</a:t>
            </a:r>
          </a:p>
        </p:txBody>
      </p:sp>
      <p:sp>
        <p:nvSpPr>
          <p:cNvPr id="14" name="source">
            <a:extLst>
              <a:ext uri="{FF2B5EF4-FFF2-40B4-BE49-F238E27FC236}">
                <a16:creationId xmlns:a16="http://schemas.microsoft.com/office/drawing/2014/main" id="{F2D61E02-CAFB-42AF-B20E-994AF8CB7F9F}"/>
              </a:ext>
            </a:extLst>
          </p:cNvPr>
          <p:cNvSpPr>
            <a:spLocks noGrp="1"/>
          </p:cNvSpPr>
          <p:nvPr/>
        </p:nvSpPr>
        <p:spPr>
          <a:xfrm>
            <a:off x="704850" y="6324600"/>
            <a:ext cx="10782300" cy="247650"/>
          </a:xfrm>
          <a:prstGeom prst="rect">
            <a:avLst/>
          </a:prstGeom>
          <a:noFill/>
          <a:ln w="0">
            <a:noFill/>
            <a:prstDash val="solid"/>
          </a:ln>
        </p:spPr>
        <p:txBody>
          <a:bodyPr wrap="square" lIns="0" tIns="0" rIns="0" bIns="0" anchor="t">
            <a:noAutofit/>
          </a:bodyPr>
          <a:lstStyle>
            <a:defPPr algn="l">
              <a:defRPr sz="1275" b="0">
                <a:solidFill>
                  <a:srgbClr val="536477"/>
                </a:solidFill>
                <a:latin typeface="Nimbus Sans"/>
                <a:ea typeface="Nimbus Sans"/>
                <a:cs typeface="Nimbus Sans"/>
              </a:defRPr>
            </a:defPPr>
          </a:lstStyle>
          <a:p>
            <a:pPr algn="l">
              <a:defRPr sz="1275" b="0">
                <a:solidFill>
                  <a:srgbClr val="536477"/>
                </a:solidFill>
                <a:latin typeface="Nimbus Sans"/>
                <a:ea typeface="Nimbus Sans"/>
                <a:cs typeface="Nimbus Sans"/>
              </a:defRPr>
            </a:pPr>
            <a:r>
              <a:rPr sz="1275" b="0">
                <a:solidFill>
                  <a:srgbClr val="536477"/>
                </a:solidFill>
                <a:latin typeface="Nimbus Sans"/>
                <a:ea typeface="Nimbus Sans"/>
                <a:cs typeface="Nimbus Sans"/>
              </a:rPr>
              <a:t>Sources checked 17 October 2026 UTC. Full links and image credits appear in the slide notes.</a:t>
            </a:r>
          </a:p>
        </p:txBody>
      </p:sp>
    </p:spTree>
    <p:extLst>
      <p:ext uri="{BB962C8B-B14F-4D97-AF65-F5344CB8AC3E}">
        <p14:creationId xmlns:p14="http://schemas.microsoft.com/office/powerpoint/2010/main" val="1341740597"/>
      </p:ext>
    </p:extLst>
  </p:cSld>
  <p:clrMapOvr>
    <a:masterClrMapping/>
  </p:clrMapOvr>
</p:sld>
</file>

<file path=ppt/theme/theme1.xml><?xml version="1.0" encoding="utf-8"?>
<a:theme xmlns:a="http://schemas.openxmlformats.org/drawingml/2006/main" name="ChatGPT">
  <a:themeElements>
    <a:clrScheme name="Editorial Navy">
      <a:dk1>
        <a:srgbClr val="0B162B"/>
      </a:dk1>
      <a:lt1>
        <a:srgbClr val="FFFFFF"/>
      </a:lt1>
      <a:dk2>
        <a:srgbClr val="132439"/>
      </a:dk2>
      <a:lt2>
        <a:srgbClr val="F4F7F8"/>
      </a:lt2>
      <a:accent1>
        <a:srgbClr val="087F8C"/>
      </a:accent1>
      <a:accent2>
        <a:srgbClr val="6CD8EC"/>
      </a:accent2>
      <a:accent3>
        <a:srgbClr val="C9A466"/>
      </a:accent3>
      <a:accent4>
        <a:srgbClr val="AD5858"/>
      </a:accent4>
      <a:accent5>
        <a:srgbClr val="486D84"/>
      </a:accent5>
      <a:accent6>
        <a:srgbClr val="61958A"/>
      </a:accent6>
      <a:hlink>
        <a:srgbClr val="087F8C"/>
      </a:hlink>
      <a:folHlink>
        <a:srgbClr val="087F8C"/>
      </a:folHlink>
    </a:clrScheme>
    <a:fontScheme name="">
      <a:majorFont>
        <a:latin typeface="Nimbus Sans"/>
        <a:ea typeface=""/>
        <a:cs typeface=""/>
      </a:majorFont>
      <a:minorFont>
        <a:latin typeface="Nimbus Sans"/>
        <a:ea typeface=""/>
        <a:cs typeface=""/>
      </a:minorFont>
    </a:fontScheme>
    <a:fmtScheme name="Editorial Nav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Editorial Navy">
      <a:dk1>
        <a:srgbClr val="0B162B"/>
      </a:dk1>
      <a:lt1>
        <a:srgbClr val="FFFFFF"/>
      </a:lt1>
      <a:dk2>
        <a:srgbClr val="132439"/>
      </a:dk2>
      <a:lt2>
        <a:srgbClr val="F4F7F8"/>
      </a:lt2>
      <a:accent1>
        <a:srgbClr val="087F8C"/>
      </a:accent1>
      <a:accent2>
        <a:srgbClr val="6CD8EC"/>
      </a:accent2>
      <a:accent3>
        <a:srgbClr val="C9A466"/>
      </a:accent3>
      <a:accent4>
        <a:srgbClr val="AD5858"/>
      </a:accent4>
      <a:accent5>
        <a:srgbClr val="486D84"/>
      </a:accent5>
      <a:accent6>
        <a:srgbClr val="61958A"/>
      </a:accent6>
      <a:hlink>
        <a:srgbClr val="087F8C"/>
      </a:hlink>
      <a:folHlink>
        <a:srgbClr val="087F8C"/>
      </a:folHlink>
    </a:clrScheme>
    <a:fontScheme name="">
      <a:majorFont>
        <a:latin typeface="Nimbus Sans"/>
        <a:ea typeface=""/>
        <a:cs typeface=""/>
      </a:majorFont>
      <a:minorFont>
        <a:latin typeface="Nimbus Sans"/>
        <a:ea typeface=""/>
        <a:cs typeface=""/>
      </a:minorFont>
    </a:fontScheme>
    <a:fmtScheme name="Editorial Nav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691</TotalTime>
  <Words>1177</Words>
  <Application>Microsoft Macintosh PowerPoint</Application>
  <DocSecurity>0</DocSecurity>
  <PresentationFormat>Widescreen</PresentationFormat>
  <Paragraphs>152</Paragraphs>
  <Slides>6</Slides>
  <Notes>6</Notes>
  <HiddenSlides>1</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Nimbus Sans</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Wumaier Kutelike</cp:lastModifiedBy>
  <cp:revision>1</cp:revision>
  <dcterms:created xsi:type="dcterms:W3CDTF">2026-10-17T01:40:08Z</dcterms:created>
  <dcterms:modified xsi:type="dcterms:W3CDTF">2026-10-17T13:18:55Z</dcterms:modified>
</cp:coreProperties>
</file>