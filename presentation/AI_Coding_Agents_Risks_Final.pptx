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7" r:id="rId2"/>
    <p:sldId id="256" r:id="rId3"/>
    <p:sldId id="258" r:id="rId4"/>
    <p:sldId id="261"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32439"/>
    <a:srgbClr val="087F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64195" autoAdjust="0"/>
  </p:normalViewPr>
  <p:slideViewPr>
    <p:cSldViewPr snapToGrid="0">
      <p:cViewPr varScale="1">
        <p:scale>
          <a:sx n="65" d="100"/>
          <a:sy n="65" d="100"/>
        </p:scale>
        <p:origin x="1267"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F035F1-07FA-410F-821F-62A9ADE87369}" type="datetimeFigureOut">
              <a:rPr lang="en-CA" smtClean="0"/>
              <a:t>2026-10-18</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AB01B-49C1-4E9A-A0B4-0B06D2AE13E6}" type="slidenum">
              <a:rPr lang="en-CA" smtClean="0"/>
              <a:t>‹#›</a:t>
            </a:fld>
            <a:endParaRPr lang="en-CA"/>
          </a:p>
        </p:txBody>
      </p:sp>
    </p:spTree>
    <p:extLst>
      <p:ext uri="{BB962C8B-B14F-4D97-AF65-F5344CB8AC3E}">
        <p14:creationId xmlns:p14="http://schemas.microsoft.com/office/powerpoint/2010/main" val="1656955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5E974-18D6-4AB7-405E-3800B00B4F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A4D618-6E38-8871-45FF-BEA3611507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4F170A-F6B3-99B9-7C3B-49E5D3E9F928}"/>
              </a:ext>
            </a:extLst>
          </p:cNvPr>
          <p:cNvSpPr>
            <a:spLocks noGrp="1"/>
          </p:cNvSpPr>
          <p:nvPr>
            <p:ph type="body" idx="1"/>
          </p:nvPr>
        </p:nvSpPr>
        <p:spPr/>
        <p:txBody>
          <a:bodyPr/>
          <a:lstStyle/>
          <a:p>
            <a:r>
              <a:rPr lang="en-CA" dirty="0"/>
              <a:t>Speaker: Sebastian Gonzalez</a:t>
            </a:r>
          </a:p>
          <a:p>
            <a:endParaRPr lang="en-CA" dirty="0"/>
          </a:p>
          <a:p>
            <a:r>
              <a:rPr lang="en-CA" dirty="0"/>
              <a:t>SCRIPT</a:t>
            </a:r>
          </a:p>
          <a:p>
            <a:r>
              <a:rPr lang="en-CA" dirty="0"/>
              <a:t>AI coding agents also have important limitations. GitHub advises developers to review and test generated code because AI output may be incorrect or insecure. Agents may also misunderstand business requirements, miss edge cases, or suggest nonexistent software packages.</a:t>
            </a:r>
          </a:p>
          <a:p>
            <a:endParaRPr lang="en-CA" dirty="0"/>
          </a:p>
          <a:p>
            <a:r>
              <a:rPr lang="en-CA" dirty="0"/>
              <a:t>SOURCES AND CONTEXT (not spoken) </a:t>
            </a:r>
          </a:p>
          <a:p>
            <a:r>
              <a:rPr lang="en-CA" dirty="0"/>
              <a:t>GitHub Docs: https://docs.github.com/en/copilot/responsible-use/agents </a:t>
            </a:r>
          </a:p>
          <a:p>
            <a:r>
              <a:rPr lang="en-CA" dirty="0"/>
              <a:t>Review and validation remain required because LLM context windows evaluate localized prompts without full system validation. </a:t>
            </a:r>
          </a:p>
          <a:p>
            <a:r>
              <a:rPr lang="en-CA" dirty="0"/>
              <a:t>Accessed 17 October 2026 UTC.</a:t>
            </a:r>
          </a:p>
        </p:txBody>
      </p:sp>
      <p:sp>
        <p:nvSpPr>
          <p:cNvPr id="4" name="Slide Number Placeholder 3">
            <a:extLst>
              <a:ext uri="{FF2B5EF4-FFF2-40B4-BE49-F238E27FC236}">
                <a16:creationId xmlns:a16="http://schemas.microsoft.com/office/drawing/2014/main" id="{B8CF9067-31D6-B7CE-57AF-14E979ABF657}"/>
              </a:ext>
            </a:extLst>
          </p:cNvPr>
          <p:cNvSpPr>
            <a:spLocks noGrp="1"/>
          </p:cNvSpPr>
          <p:nvPr>
            <p:ph type="sldNum" sz="quarter" idx="5"/>
          </p:nvPr>
        </p:nvSpPr>
        <p:spPr/>
        <p:txBody>
          <a:bodyPr/>
          <a:lstStyle/>
          <a:p>
            <a:fld id="{C6BAB01B-49C1-4E9A-A0B4-0B06D2AE13E6}" type="slidenum">
              <a:rPr lang="en-CA" smtClean="0"/>
              <a:t>1</a:t>
            </a:fld>
            <a:endParaRPr lang="en-CA"/>
          </a:p>
        </p:txBody>
      </p:sp>
    </p:spTree>
    <p:extLst>
      <p:ext uri="{BB962C8B-B14F-4D97-AF65-F5344CB8AC3E}">
        <p14:creationId xmlns:p14="http://schemas.microsoft.com/office/powerpoint/2010/main" val="42297928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Speaker: Sebastian Gonzalez</a:t>
            </a:r>
          </a:p>
          <a:p>
            <a:endParaRPr lang="en-CA" dirty="0"/>
          </a:p>
          <a:p>
            <a:r>
              <a:rPr lang="en-CA" dirty="0"/>
              <a:t>SCRIPT</a:t>
            </a:r>
          </a:p>
          <a:p>
            <a:r>
              <a:rPr lang="en-CA" dirty="0"/>
              <a:t>Evidence supports the need for human oversight. The Sonar State of Code survey reported that 95 percent of surveyed developers spend effort reviewing, testing, and correcting AI-generated code. It also reported that 38 percent said reviewing AI-generated code requires more effort than reviewing human-written code.</a:t>
            </a:r>
          </a:p>
          <a:p>
            <a:r>
              <a:rPr lang="en-CA" dirty="0"/>
              <a:t>A Veracode analysis found that roughly 44 percent of its tested code-generation tasks introduced a vulnerability. This finding applies to Veracode’s specific tests and should not be generalized to every AI tool or programming task.</a:t>
            </a:r>
          </a:p>
          <a:p>
            <a:endParaRPr lang="en-CA" dirty="0"/>
          </a:p>
          <a:p>
            <a:r>
              <a:rPr lang="en-CA" dirty="0"/>
              <a:t>SOURCES AND CONTEXT (not spoken) </a:t>
            </a:r>
          </a:p>
          <a:p>
            <a:r>
              <a:rPr lang="en-CA" dirty="0"/>
              <a:t>Sonar Report: https://www.sonarsource.com/state-of-code-developer-survey-report.pdf </a:t>
            </a:r>
          </a:p>
          <a:p>
            <a:r>
              <a:rPr lang="en-CA" dirty="0"/>
              <a:t>Veracode Report: https://www.veracode.com/blog/2026-genai-code-security-report-ai-risk/</a:t>
            </a:r>
          </a:p>
          <a:p>
            <a:r>
              <a:rPr lang="en-CA" dirty="0"/>
              <a:t>Survey data reflects reported developer effort across varied team sizes and projects. </a:t>
            </a:r>
          </a:p>
          <a:p>
            <a:r>
              <a:rPr lang="en-CA" dirty="0"/>
              <a:t>Vulnerability figures reflect specific tested benchmarks and CWE patterns.</a:t>
            </a:r>
          </a:p>
          <a:p>
            <a:r>
              <a:rPr lang="en-CA" dirty="0"/>
              <a:t>Accessed 17 October 2026 UTC.</a:t>
            </a:r>
          </a:p>
        </p:txBody>
      </p:sp>
      <p:sp>
        <p:nvSpPr>
          <p:cNvPr id="4" name="Slide Number Placeholder 3"/>
          <p:cNvSpPr>
            <a:spLocks noGrp="1"/>
          </p:cNvSpPr>
          <p:nvPr>
            <p:ph type="sldNum" sz="quarter" idx="5"/>
          </p:nvPr>
        </p:nvSpPr>
        <p:spPr/>
        <p:txBody>
          <a:bodyPr/>
          <a:lstStyle/>
          <a:p>
            <a:fld id="{C6BAB01B-49C1-4E9A-A0B4-0B06D2AE13E6}" type="slidenum">
              <a:rPr lang="en-CA" smtClean="0"/>
              <a:t>2</a:t>
            </a:fld>
            <a:endParaRPr lang="en-CA"/>
          </a:p>
        </p:txBody>
      </p:sp>
    </p:spTree>
    <p:extLst>
      <p:ext uri="{BB962C8B-B14F-4D97-AF65-F5344CB8AC3E}">
        <p14:creationId xmlns:p14="http://schemas.microsoft.com/office/powerpoint/2010/main" val="431670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41514-E560-B7A5-15B5-1934856931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606FD6-B152-40E8-3BC7-BBF136BFDE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830333-4EA4-ADAA-5311-BEF425775D75}"/>
              </a:ext>
            </a:extLst>
          </p:cNvPr>
          <p:cNvSpPr>
            <a:spLocks noGrp="1"/>
          </p:cNvSpPr>
          <p:nvPr>
            <p:ph type="body" idx="1"/>
          </p:nvPr>
        </p:nvSpPr>
        <p:spPr/>
        <p:txBody>
          <a:bodyPr/>
          <a:lstStyle/>
          <a:p>
            <a:r>
              <a:rPr lang="en-CA" dirty="0"/>
              <a:t>Speaker: Sebastian Gonzalez</a:t>
            </a:r>
          </a:p>
          <a:p>
            <a:endParaRPr lang="en-CA" dirty="0"/>
          </a:p>
          <a:p>
            <a:r>
              <a:rPr lang="en-CA" dirty="0"/>
              <a:t>SCRIPT</a:t>
            </a:r>
          </a:p>
          <a:p>
            <a:r>
              <a:rPr lang="en-CA" dirty="0"/>
              <a:t>As agents become more common, developers may spend more time reviewing code, designing systems, testing edge cases, and making security decisions. Humans and organizations remain responsible for deciding whether generated changes are suitable for production. </a:t>
            </a:r>
          </a:p>
          <a:p>
            <a:r>
              <a:rPr lang="en-CA" dirty="0"/>
              <a:t>Overall, AI coding agents can support developers, but they should be treated as assistants rather than replacements. Their value depends on the task, the available context, careful testing, and responsible human review. Thank you.</a:t>
            </a:r>
          </a:p>
          <a:p>
            <a:endParaRPr lang="en-CA" dirty="0"/>
          </a:p>
          <a:p>
            <a:r>
              <a:rPr lang="en-CA" dirty="0"/>
              <a:t>SOURCES AND CONTEXT (not spoken) </a:t>
            </a:r>
          </a:p>
          <a:p>
            <a:r>
              <a:rPr lang="en-CA" dirty="0"/>
              <a:t>Conclusion synthesizes developer role evolution and accountability practices.</a:t>
            </a:r>
          </a:p>
          <a:p>
            <a:r>
              <a:rPr lang="en-CA" dirty="0"/>
              <a:t>Accessed 17 October 2026 UTC.</a:t>
            </a:r>
          </a:p>
        </p:txBody>
      </p:sp>
      <p:sp>
        <p:nvSpPr>
          <p:cNvPr id="4" name="Slide Number Placeholder 3">
            <a:extLst>
              <a:ext uri="{FF2B5EF4-FFF2-40B4-BE49-F238E27FC236}">
                <a16:creationId xmlns:a16="http://schemas.microsoft.com/office/drawing/2014/main" id="{CFF56489-3558-849F-178D-053505963BA3}"/>
              </a:ext>
            </a:extLst>
          </p:cNvPr>
          <p:cNvSpPr>
            <a:spLocks noGrp="1"/>
          </p:cNvSpPr>
          <p:nvPr>
            <p:ph type="sldNum" sz="quarter" idx="5"/>
          </p:nvPr>
        </p:nvSpPr>
        <p:spPr/>
        <p:txBody>
          <a:bodyPr/>
          <a:lstStyle/>
          <a:p>
            <a:fld id="{C6BAB01B-49C1-4E9A-A0B4-0B06D2AE13E6}" type="slidenum">
              <a:rPr lang="en-CA" smtClean="0"/>
              <a:t>3</a:t>
            </a:fld>
            <a:endParaRPr lang="en-CA"/>
          </a:p>
        </p:txBody>
      </p:sp>
    </p:spTree>
    <p:extLst>
      <p:ext uri="{BB962C8B-B14F-4D97-AF65-F5344CB8AC3E}">
        <p14:creationId xmlns:p14="http://schemas.microsoft.com/office/powerpoint/2010/main" val="21024442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Speaker: </a:t>
            </a:r>
            <a:r>
              <a:rPr lang="en-CA" dirty="0"/>
              <a:t>Sebastian Gonzalez</a:t>
            </a:r>
            <a:endParaRPr dirty="0"/>
          </a:p>
          <a:p>
            <a:endParaRPr dirty="0"/>
          </a:p>
          <a:p>
            <a:r>
              <a:rPr dirty="0"/>
              <a:t>SCRIPT</a:t>
            </a:r>
          </a:p>
          <a:p>
            <a:endParaRPr dirty="0"/>
          </a:p>
          <a:p>
            <a:r>
              <a:rPr dirty="0"/>
              <a:t>REFERENCE APPENDIX: hidden during slide show. No narration. When combining with Sebastian’s slides, keep this source page at the end of the final deck.</a:t>
            </a:r>
          </a:p>
          <a:p>
            <a:endParaRPr dirty="0"/>
          </a:p>
          <a:p>
            <a:r>
              <a:rPr dirty="0"/>
              <a:t>SOURCES AND CONTEXT (not spoken)</a:t>
            </a:r>
          </a:p>
          <a:p>
            <a:r>
              <a:rPr lang="en-CA" dirty="0"/>
              <a:t>https://docs.github.com/en/copilot/responsible-use/agents </a:t>
            </a:r>
          </a:p>
          <a:p>
            <a:r>
              <a:rPr lang="en-CA" dirty="0"/>
              <a:t>https://www.sonarsource.com/state-of-code-developer-survey-report.pdf </a:t>
            </a:r>
          </a:p>
          <a:p>
            <a:r>
              <a:rPr lang="en-CA" dirty="0"/>
              <a:t>https://www.veracode.com/blog/2026-genai-code-security-report-ai-risk/</a:t>
            </a:r>
            <a:r>
              <a:rPr dirty="0"/>
              <a:t>Cover image: AI-generated decorative art. JetBrains owns its product screenshot. </a:t>
            </a:r>
            <a:endParaRPr lang="en-CA" dirty="0"/>
          </a:p>
          <a:p>
            <a:r>
              <a:rPr dirty="0"/>
              <a:t>Accessed 17 October 2026 UTC.</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9841B-8DF4-80EB-6B6E-69CE15C401F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8EF6BA91-2B2E-C1F6-FA47-3000A7B0CD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57E33A33-100E-59FA-3F56-0403440629A9}"/>
              </a:ext>
            </a:extLst>
          </p:cNvPr>
          <p:cNvSpPr>
            <a:spLocks noGrp="1"/>
          </p:cNvSpPr>
          <p:nvPr>
            <p:ph type="dt" sz="half" idx="10"/>
          </p:nvPr>
        </p:nvSpPr>
        <p:spPr/>
        <p:txBody>
          <a:bodyPr/>
          <a:lstStyle/>
          <a:p>
            <a:fld id="{531E18A8-734C-404C-8681-DBF7765A2615}" type="datetimeFigureOut">
              <a:rPr lang="en-CA" smtClean="0"/>
              <a:t>2026-10-18</a:t>
            </a:fld>
            <a:endParaRPr lang="en-CA"/>
          </a:p>
        </p:txBody>
      </p:sp>
      <p:sp>
        <p:nvSpPr>
          <p:cNvPr id="5" name="Footer Placeholder 4">
            <a:extLst>
              <a:ext uri="{FF2B5EF4-FFF2-40B4-BE49-F238E27FC236}">
                <a16:creationId xmlns:a16="http://schemas.microsoft.com/office/drawing/2014/main" id="{87ECCB22-6C1F-B1B0-58E5-A23A5D567E20}"/>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1766DBB-102D-F2C6-7CFF-558F79397102}"/>
              </a:ext>
            </a:extLst>
          </p:cNvPr>
          <p:cNvSpPr>
            <a:spLocks noGrp="1"/>
          </p:cNvSpPr>
          <p:nvPr>
            <p:ph type="sldNum" sz="quarter" idx="12"/>
          </p:nvPr>
        </p:nvSpPr>
        <p:spPr/>
        <p:txBody>
          <a:bodyPr/>
          <a:lstStyle/>
          <a:p>
            <a:fld id="{978152D8-3D26-425A-BFF4-D1DBACFFFF41}" type="slidenum">
              <a:rPr lang="en-CA" smtClean="0"/>
              <a:t>‹#›</a:t>
            </a:fld>
            <a:endParaRPr lang="en-CA"/>
          </a:p>
        </p:txBody>
      </p:sp>
    </p:spTree>
    <p:extLst>
      <p:ext uri="{BB962C8B-B14F-4D97-AF65-F5344CB8AC3E}">
        <p14:creationId xmlns:p14="http://schemas.microsoft.com/office/powerpoint/2010/main" val="20547441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DA2D2-3AC7-8C71-6DD4-296EA7168D73}"/>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2308FB36-26E4-2F84-5F30-92753C4301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7A7759E-393C-43FC-01FB-036E44FBA583}"/>
              </a:ext>
            </a:extLst>
          </p:cNvPr>
          <p:cNvSpPr>
            <a:spLocks noGrp="1"/>
          </p:cNvSpPr>
          <p:nvPr>
            <p:ph type="dt" sz="half" idx="10"/>
          </p:nvPr>
        </p:nvSpPr>
        <p:spPr/>
        <p:txBody>
          <a:bodyPr/>
          <a:lstStyle/>
          <a:p>
            <a:fld id="{531E18A8-734C-404C-8681-DBF7765A2615}" type="datetimeFigureOut">
              <a:rPr lang="en-CA" smtClean="0"/>
              <a:t>2026-10-18</a:t>
            </a:fld>
            <a:endParaRPr lang="en-CA"/>
          </a:p>
        </p:txBody>
      </p:sp>
      <p:sp>
        <p:nvSpPr>
          <p:cNvPr id="5" name="Footer Placeholder 4">
            <a:extLst>
              <a:ext uri="{FF2B5EF4-FFF2-40B4-BE49-F238E27FC236}">
                <a16:creationId xmlns:a16="http://schemas.microsoft.com/office/drawing/2014/main" id="{754206F3-319E-DDCD-6EDB-5B575C7B4E7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0A68F9D-C515-ACEE-3C57-4A77175BBAAA}"/>
              </a:ext>
            </a:extLst>
          </p:cNvPr>
          <p:cNvSpPr>
            <a:spLocks noGrp="1"/>
          </p:cNvSpPr>
          <p:nvPr>
            <p:ph type="sldNum" sz="quarter" idx="12"/>
          </p:nvPr>
        </p:nvSpPr>
        <p:spPr/>
        <p:txBody>
          <a:bodyPr/>
          <a:lstStyle/>
          <a:p>
            <a:fld id="{978152D8-3D26-425A-BFF4-D1DBACFFFF41}" type="slidenum">
              <a:rPr lang="en-CA" smtClean="0"/>
              <a:t>‹#›</a:t>
            </a:fld>
            <a:endParaRPr lang="en-CA"/>
          </a:p>
        </p:txBody>
      </p:sp>
    </p:spTree>
    <p:extLst>
      <p:ext uri="{BB962C8B-B14F-4D97-AF65-F5344CB8AC3E}">
        <p14:creationId xmlns:p14="http://schemas.microsoft.com/office/powerpoint/2010/main" val="3641396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CB21A-BEFC-FA49-0D27-2E5430E1BB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3780A748-990A-F670-C772-5E0C69173E5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4EB240-E8FF-F694-50D4-9591A732DBCE}"/>
              </a:ext>
            </a:extLst>
          </p:cNvPr>
          <p:cNvSpPr>
            <a:spLocks noGrp="1"/>
          </p:cNvSpPr>
          <p:nvPr>
            <p:ph type="dt" sz="half" idx="10"/>
          </p:nvPr>
        </p:nvSpPr>
        <p:spPr/>
        <p:txBody>
          <a:bodyPr/>
          <a:lstStyle/>
          <a:p>
            <a:fld id="{531E18A8-734C-404C-8681-DBF7765A2615}" type="datetimeFigureOut">
              <a:rPr lang="en-CA" smtClean="0"/>
              <a:t>2026-10-18</a:t>
            </a:fld>
            <a:endParaRPr lang="en-CA"/>
          </a:p>
        </p:txBody>
      </p:sp>
      <p:sp>
        <p:nvSpPr>
          <p:cNvPr id="5" name="Footer Placeholder 4">
            <a:extLst>
              <a:ext uri="{FF2B5EF4-FFF2-40B4-BE49-F238E27FC236}">
                <a16:creationId xmlns:a16="http://schemas.microsoft.com/office/drawing/2014/main" id="{471861EE-7EB2-4DD4-30F5-3051CC07967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1280B7D-746C-BD1C-D029-F8078DCCAD65}"/>
              </a:ext>
            </a:extLst>
          </p:cNvPr>
          <p:cNvSpPr>
            <a:spLocks noGrp="1"/>
          </p:cNvSpPr>
          <p:nvPr>
            <p:ph type="sldNum" sz="quarter" idx="12"/>
          </p:nvPr>
        </p:nvSpPr>
        <p:spPr/>
        <p:txBody>
          <a:bodyPr/>
          <a:lstStyle/>
          <a:p>
            <a:fld id="{978152D8-3D26-425A-BFF4-D1DBACFFFF41}" type="slidenum">
              <a:rPr lang="en-CA" smtClean="0"/>
              <a:t>‹#›</a:t>
            </a:fld>
            <a:endParaRPr lang="en-CA"/>
          </a:p>
        </p:txBody>
      </p:sp>
    </p:spTree>
    <p:extLst>
      <p:ext uri="{BB962C8B-B14F-4D97-AF65-F5344CB8AC3E}">
        <p14:creationId xmlns:p14="http://schemas.microsoft.com/office/powerpoint/2010/main" val="983074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BFF22-60A6-CCEC-9866-C238338C3E31}"/>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5B036FEC-1629-02A4-EDED-9CFF383957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AE4174CE-9B57-F9F4-FDB8-6C83FD8BD21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060BEAE5-7A6A-6643-7460-6089B013B576}"/>
              </a:ext>
            </a:extLst>
          </p:cNvPr>
          <p:cNvSpPr>
            <a:spLocks noGrp="1"/>
          </p:cNvSpPr>
          <p:nvPr>
            <p:ph type="dt" sz="half" idx="10"/>
          </p:nvPr>
        </p:nvSpPr>
        <p:spPr/>
        <p:txBody>
          <a:bodyPr/>
          <a:lstStyle/>
          <a:p>
            <a:fld id="{531E18A8-734C-404C-8681-DBF7765A2615}" type="datetimeFigureOut">
              <a:rPr lang="en-CA" smtClean="0"/>
              <a:t>2026-10-18</a:t>
            </a:fld>
            <a:endParaRPr lang="en-CA"/>
          </a:p>
        </p:txBody>
      </p:sp>
      <p:sp>
        <p:nvSpPr>
          <p:cNvPr id="6" name="Footer Placeholder 5">
            <a:extLst>
              <a:ext uri="{FF2B5EF4-FFF2-40B4-BE49-F238E27FC236}">
                <a16:creationId xmlns:a16="http://schemas.microsoft.com/office/drawing/2014/main" id="{F2B304F9-21BD-A72B-EF7F-449276DA2434}"/>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7CF5938-D5B7-4512-0DA2-7D2419240C5A}"/>
              </a:ext>
            </a:extLst>
          </p:cNvPr>
          <p:cNvSpPr>
            <a:spLocks noGrp="1"/>
          </p:cNvSpPr>
          <p:nvPr>
            <p:ph type="sldNum" sz="quarter" idx="12"/>
          </p:nvPr>
        </p:nvSpPr>
        <p:spPr/>
        <p:txBody>
          <a:bodyPr/>
          <a:lstStyle/>
          <a:p>
            <a:fld id="{978152D8-3D26-425A-BFF4-D1DBACFFFF41}" type="slidenum">
              <a:rPr lang="en-CA" smtClean="0"/>
              <a:t>‹#›</a:t>
            </a:fld>
            <a:endParaRPr lang="en-CA"/>
          </a:p>
        </p:txBody>
      </p:sp>
    </p:spTree>
    <p:extLst>
      <p:ext uri="{BB962C8B-B14F-4D97-AF65-F5344CB8AC3E}">
        <p14:creationId xmlns:p14="http://schemas.microsoft.com/office/powerpoint/2010/main" val="101904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DDC75-6F49-81BF-5281-6166311EF06F}"/>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823BA479-2A5C-81C2-3318-B968E108F2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2E9C78D-D67D-044A-56A7-956553E12F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394D82DC-43CE-1999-B121-574BA8C0D2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DA2826-BDBA-094A-C764-C55C902E36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2E0107E0-F98B-320E-F238-71265CD07F0B}"/>
              </a:ext>
            </a:extLst>
          </p:cNvPr>
          <p:cNvSpPr>
            <a:spLocks noGrp="1"/>
          </p:cNvSpPr>
          <p:nvPr>
            <p:ph type="dt" sz="half" idx="10"/>
          </p:nvPr>
        </p:nvSpPr>
        <p:spPr/>
        <p:txBody>
          <a:bodyPr/>
          <a:lstStyle/>
          <a:p>
            <a:fld id="{531E18A8-734C-404C-8681-DBF7765A2615}" type="datetimeFigureOut">
              <a:rPr lang="en-CA" smtClean="0"/>
              <a:t>2026-10-18</a:t>
            </a:fld>
            <a:endParaRPr lang="en-CA"/>
          </a:p>
        </p:txBody>
      </p:sp>
      <p:sp>
        <p:nvSpPr>
          <p:cNvPr id="8" name="Footer Placeholder 7">
            <a:extLst>
              <a:ext uri="{FF2B5EF4-FFF2-40B4-BE49-F238E27FC236}">
                <a16:creationId xmlns:a16="http://schemas.microsoft.com/office/drawing/2014/main" id="{6A090016-89AA-62A5-AD48-2C53C14442BE}"/>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632C7D88-D2DD-4874-C731-E895CD38B490}"/>
              </a:ext>
            </a:extLst>
          </p:cNvPr>
          <p:cNvSpPr>
            <a:spLocks noGrp="1"/>
          </p:cNvSpPr>
          <p:nvPr>
            <p:ph type="sldNum" sz="quarter" idx="12"/>
          </p:nvPr>
        </p:nvSpPr>
        <p:spPr/>
        <p:txBody>
          <a:bodyPr/>
          <a:lstStyle/>
          <a:p>
            <a:fld id="{978152D8-3D26-425A-BFF4-D1DBACFFFF41}" type="slidenum">
              <a:rPr lang="en-CA" smtClean="0"/>
              <a:t>‹#›</a:t>
            </a:fld>
            <a:endParaRPr lang="en-CA"/>
          </a:p>
        </p:txBody>
      </p:sp>
    </p:spTree>
    <p:extLst>
      <p:ext uri="{BB962C8B-B14F-4D97-AF65-F5344CB8AC3E}">
        <p14:creationId xmlns:p14="http://schemas.microsoft.com/office/powerpoint/2010/main" val="2030665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80972-58FF-2480-4555-D2EB35E0E236}"/>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FA2F3A78-10A8-4571-3B50-2A6BE2070EE8}"/>
              </a:ext>
            </a:extLst>
          </p:cNvPr>
          <p:cNvSpPr>
            <a:spLocks noGrp="1"/>
          </p:cNvSpPr>
          <p:nvPr>
            <p:ph type="dt" sz="half" idx="10"/>
          </p:nvPr>
        </p:nvSpPr>
        <p:spPr/>
        <p:txBody>
          <a:bodyPr/>
          <a:lstStyle/>
          <a:p>
            <a:fld id="{531E18A8-734C-404C-8681-DBF7765A2615}" type="datetimeFigureOut">
              <a:rPr lang="en-CA" smtClean="0"/>
              <a:t>2026-10-18</a:t>
            </a:fld>
            <a:endParaRPr lang="en-CA"/>
          </a:p>
        </p:txBody>
      </p:sp>
      <p:sp>
        <p:nvSpPr>
          <p:cNvPr id="4" name="Footer Placeholder 3">
            <a:extLst>
              <a:ext uri="{FF2B5EF4-FFF2-40B4-BE49-F238E27FC236}">
                <a16:creationId xmlns:a16="http://schemas.microsoft.com/office/drawing/2014/main" id="{5C0267EE-1818-108E-AAD9-58580D592A16}"/>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8BAD91D7-6246-0026-CF62-30E228B163E5}"/>
              </a:ext>
            </a:extLst>
          </p:cNvPr>
          <p:cNvSpPr>
            <a:spLocks noGrp="1"/>
          </p:cNvSpPr>
          <p:nvPr>
            <p:ph type="sldNum" sz="quarter" idx="12"/>
          </p:nvPr>
        </p:nvSpPr>
        <p:spPr/>
        <p:txBody>
          <a:bodyPr/>
          <a:lstStyle/>
          <a:p>
            <a:fld id="{978152D8-3D26-425A-BFF4-D1DBACFFFF41}" type="slidenum">
              <a:rPr lang="en-CA" smtClean="0"/>
              <a:t>‹#›</a:t>
            </a:fld>
            <a:endParaRPr lang="en-CA"/>
          </a:p>
        </p:txBody>
      </p:sp>
    </p:spTree>
    <p:extLst>
      <p:ext uri="{BB962C8B-B14F-4D97-AF65-F5344CB8AC3E}">
        <p14:creationId xmlns:p14="http://schemas.microsoft.com/office/powerpoint/2010/main" val="3108288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D17DC2-B277-5D32-9A9A-24F6CD6A4185}"/>
              </a:ext>
            </a:extLst>
          </p:cNvPr>
          <p:cNvSpPr>
            <a:spLocks noGrp="1"/>
          </p:cNvSpPr>
          <p:nvPr>
            <p:ph type="dt" sz="half" idx="10"/>
          </p:nvPr>
        </p:nvSpPr>
        <p:spPr/>
        <p:txBody>
          <a:bodyPr/>
          <a:lstStyle/>
          <a:p>
            <a:fld id="{531E18A8-734C-404C-8681-DBF7765A2615}" type="datetimeFigureOut">
              <a:rPr lang="en-CA" smtClean="0"/>
              <a:t>2026-10-18</a:t>
            </a:fld>
            <a:endParaRPr lang="en-CA"/>
          </a:p>
        </p:txBody>
      </p:sp>
      <p:sp>
        <p:nvSpPr>
          <p:cNvPr id="3" name="Footer Placeholder 2">
            <a:extLst>
              <a:ext uri="{FF2B5EF4-FFF2-40B4-BE49-F238E27FC236}">
                <a16:creationId xmlns:a16="http://schemas.microsoft.com/office/drawing/2014/main" id="{09CB7A44-3F78-A31C-EF41-C18EB21D4BA5}"/>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E7DD9D4F-A68B-D138-2434-07987E183D40}"/>
              </a:ext>
            </a:extLst>
          </p:cNvPr>
          <p:cNvSpPr>
            <a:spLocks noGrp="1"/>
          </p:cNvSpPr>
          <p:nvPr>
            <p:ph type="sldNum" sz="quarter" idx="12"/>
          </p:nvPr>
        </p:nvSpPr>
        <p:spPr/>
        <p:txBody>
          <a:bodyPr/>
          <a:lstStyle/>
          <a:p>
            <a:fld id="{978152D8-3D26-425A-BFF4-D1DBACFFFF41}" type="slidenum">
              <a:rPr lang="en-CA" smtClean="0"/>
              <a:t>‹#›</a:t>
            </a:fld>
            <a:endParaRPr lang="en-CA"/>
          </a:p>
        </p:txBody>
      </p:sp>
    </p:spTree>
    <p:extLst>
      <p:ext uri="{BB962C8B-B14F-4D97-AF65-F5344CB8AC3E}">
        <p14:creationId xmlns:p14="http://schemas.microsoft.com/office/powerpoint/2010/main" val="1512853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BA907-9614-651C-2C63-BB57CC2710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D98FC89B-7117-A4DE-D1FE-A6826207EF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11EA4FA7-6A95-8B37-CF25-3D8373E384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22AC5C-8B78-7B73-DD8D-F25E2AF9CC66}"/>
              </a:ext>
            </a:extLst>
          </p:cNvPr>
          <p:cNvSpPr>
            <a:spLocks noGrp="1"/>
          </p:cNvSpPr>
          <p:nvPr>
            <p:ph type="dt" sz="half" idx="10"/>
          </p:nvPr>
        </p:nvSpPr>
        <p:spPr/>
        <p:txBody>
          <a:bodyPr/>
          <a:lstStyle/>
          <a:p>
            <a:fld id="{531E18A8-734C-404C-8681-DBF7765A2615}" type="datetimeFigureOut">
              <a:rPr lang="en-CA" smtClean="0"/>
              <a:t>2026-10-18</a:t>
            </a:fld>
            <a:endParaRPr lang="en-CA"/>
          </a:p>
        </p:txBody>
      </p:sp>
      <p:sp>
        <p:nvSpPr>
          <p:cNvPr id="6" name="Footer Placeholder 5">
            <a:extLst>
              <a:ext uri="{FF2B5EF4-FFF2-40B4-BE49-F238E27FC236}">
                <a16:creationId xmlns:a16="http://schemas.microsoft.com/office/drawing/2014/main" id="{A9BC8A6A-6DD3-7C87-9E96-C4DC0364C404}"/>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0848FA8F-94C6-7221-F5E9-FB8016315213}"/>
              </a:ext>
            </a:extLst>
          </p:cNvPr>
          <p:cNvSpPr>
            <a:spLocks noGrp="1"/>
          </p:cNvSpPr>
          <p:nvPr>
            <p:ph type="sldNum" sz="quarter" idx="12"/>
          </p:nvPr>
        </p:nvSpPr>
        <p:spPr/>
        <p:txBody>
          <a:bodyPr/>
          <a:lstStyle/>
          <a:p>
            <a:fld id="{978152D8-3D26-425A-BFF4-D1DBACFFFF41}" type="slidenum">
              <a:rPr lang="en-CA" smtClean="0"/>
              <a:t>‹#›</a:t>
            </a:fld>
            <a:endParaRPr lang="en-CA"/>
          </a:p>
        </p:txBody>
      </p:sp>
    </p:spTree>
    <p:extLst>
      <p:ext uri="{BB962C8B-B14F-4D97-AF65-F5344CB8AC3E}">
        <p14:creationId xmlns:p14="http://schemas.microsoft.com/office/powerpoint/2010/main" val="1605167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6FDC5-7EA9-CB90-8120-6B9EC7E611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6E6CF811-D1BE-BC85-688A-CCFB024ED92F}"/>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0EECBD11-6ED0-0B98-A799-97FE552FBF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8CA8B3-4EA1-5DB5-6430-F408298D0E35}"/>
              </a:ext>
            </a:extLst>
          </p:cNvPr>
          <p:cNvSpPr>
            <a:spLocks noGrp="1"/>
          </p:cNvSpPr>
          <p:nvPr>
            <p:ph type="dt" sz="half" idx="10"/>
          </p:nvPr>
        </p:nvSpPr>
        <p:spPr/>
        <p:txBody>
          <a:bodyPr/>
          <a:lstStyle/>
          <a:p>
            <a:fld id="{531E18A8-734C-404C-8681-DBF7765A2615}" type="datetimeFigureOut">
              <a:rPr lang="en-CA" smtClean="0"/>
              <a:t>2026-10-18</a:t>
            </a:fld>
            <a:endParaRPr lang="en-CA"/>
          </a:p>
        </p:txBody>
      </p:sp>
      <p:sp>
        <p:nvSpPr>
          <p:cNvPr id="6" name="Footer Placeholder 5">
            <a:extLst>
              <a:ext uri="{FF2B5EF4-FFF2-40B4-BE49-F238E27FC236}">
                <a16:creationId xmlns:a16="http://schemas.microsoft.com/office/drawing/2014/main" id="{00EF7735-99F7-A1BB-3547-E0C572F6A9C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D0B3A9F3-C409-8A79-A325-02BC22DB245A}"/>
              </a:ext>
            </a:extLst>
          </p:cNvPr>
          <p:cNvSpPr>
            <a:spLocks noGrp="1"/>
          </p:cNvSpPr>
          <p:nvPr>
            <p:ph type="sldNum" sz="quarter" idx="12"/>
          </p:nvPr>
        </p:nvSpPr>
        <p:spPr/>
        <p:txBody>
          <a:bodyPr/>
          <a:lstStyle/>
          <a:p>
            <a:fld id="{978152D8-3D26-425A-BFF4-D1DBACFFFF41}" type="slidenum">
              <a:rPr lang="en-CA" smtClean="0"/>
              <a:t>‹#›</a:t>
            </a:fld>
            <a:endParaRPr lang="en-CA"/>
          </a:p>
        </p:txBody>
      </p:sp>
    </p:spTree>
    <p:extLst>
      <p:ext uri="{BB962C8B-B14F-4D97-AF65-F5344CB8AC3E}">
        <p14:creationId xmlns:p14="http://schemas.microsoft.com/office/powerpoint/2010/main" val="3041209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CACC1-4A8E-BCCD-ABA8-FAF86918162E}"/>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0123EDA5-AC10-67E3-05DF-FD57F58F77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BDB2B92-846A-9B28-5D31-7A6613187D67}"/>
              </a:ext>
            </a:extLst>
          </p:cNvPr>
          <p:cNvSpPr>
            <a:spLocks noGrp="1"/>
          </p:cNvSpPr>
          <p:nvPr>
            <p:ph type="dt" sz="half" idx="10"/>
          </p:nvPr>
        </p:nvSpPr>
        <p:spPr/>
        <p:txBody>
          <a:bodyPr/>
          <a:lstStyle/>
          <a:p>
            <a:fld id="{531E18A8-734C-404C-8681-DBF7765A2615}" type="datetimeFigureOut">
              <a:rPr lang="en-CA" smtClean="0"/>
              <a:t>2026-10-18</a:t>
            </a:fld>
            <a:endParaRPr lang="en-CA"/>
          </a:p>
        </p:txBody>
      </p:sp>
      <p:sp>
        <p:nvSpPr>
          <p:cNvPr id="5" name="Footer Placeholder 4">
            <a:extLst>
              <a:ext uri="{FF2B5EF4-FFF2-40B4-BE49-F238E27FC236}">
                <a16:creationId xmlns:a16="http://schemas.microsoft.com/office/drawing/2014/main" id="{2FBF3C9B-D73B-74D6-7897-0C24F025C420}"/>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B6276DA-952E-0062-296A-7BDAF3882B03}"/>
              </a:ext>
            </a:extLst>
          </p:cNvPr>
          <p:cNvSpPr>
            <a:spLocks noGrp="1"/>
          </p:cNvSpPr>
          <p:nvPr>
            <p:ph type="sldNum" sz="quarter" idx="12"/>
          </p:nvPr>
        </p:nvSpPr>
        <p:spPr/>
        <p:txBody>
          <a:bodyPr/>
          <a:lstStyle/>
          <a:p>
            <a:fld id="{978152D8-3D26-425A-BFF4-D1DBACFFFF41}" type="slidenum">
              <a:rPr lang="en-CA" smtClean="0"/>
              <a:t>‹#›</a:t>
            </a:fld>
            <a:endParaRPr lang="en-CA"/>
          </a:p>
        </p:txBody>
      </p:sp>
    </p:spTree>
    <p:extLst>
      <p:ext uri="{BB962C8B-B14F-4D97-AF65-F5344CB8AC3E}">
        <p14:creationId xmlns:p14="http://schemas.microsoft.com/office/powerpoint/2010/main" val="1778920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AAA55-9156-DB0A-154D-7CC8A40BD91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1F0A1F79-2780-4563-397C-D3DE7ABC1C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025572C-C4EA-A835-2186-1579C27205E6}"/>
              </a:ext>
            </a:extLst>
          </p:cNvPr>
          <p:cNvSpPr>
            <a:spLocks noGrp="1"/>
          </p:cNvSpPr>
          <p:nvPr>
            <p:ph type="dt" sz="half" idx="10"/>
          </p:nvPr>
        </p:nvSpPr>
        <p:spPr/>
        <p:txBody>
          <a:bodyPr/>
          <a:lstStyle/>
          <a:p>
            <a:fld id="{531E18A8-734C-404C-8681-DBF7765A2615}" type="datetimeFigureOut">
              <a:rPr lang="en-CA" smtClean="0"/>
              <a:t>2026-10-18</a:t>
            </a:fld>
            <a:endParaRPr lang="en-CA"/>
          </a:p>
        </p:txBody>
      </p:sp>
      <p:sp>
        <p:nvSpPr>
          <p:cNvPr id="5" name="Footer Placeholder 4">
            <a:extLst>
              <a:ext uri="{FF2B5EF4-FFF2-40B4-BE49-F238E27FC236}">
                <a16:creationId xmlns:a16="http://schemas.microsoft.com/office/drawing/2014/main" id="{8A04645E-17B1-F894-8F93-63549CD18B5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3E5F336-7B49-B457-D5E5-940710520EC3}"/>
              </a:ext>
            </a:extLst>
          </p:cNvPr>
          <p:cNvSpPr>
            <a:spLocks noGrp="1"/>
          </p:cNvSpPr>
          <p:nvPr>
            <p:ph type="sldNum" sz="quarter" idx="12"/>
          </p:nvPr>
        </p:nvSpPr>
        <p:spPr/>
        <p:txBody>
          <a:bodyPr/>
          <a:lstStyle/>
          <a:p>
            <a:fld id="{978152D8-3D26-425A-BFF4-D1DBACFFFF41}" type="slidenum">
              <a:rPr lang="en-CA" smtClean="0"/>
              <a:t>‹#›</a:t>
            </a:fld>
            <a:endParaRPr lang="en-CA"/>
          </a:p>
        </p:txBody>
      </p:sp>
    </p:spTree>
    <p:extLst>
      <p:ext uri="{BB962C8B-B14F-4D97-AF65-F5344CB8AC3E}">
        <p14:creationId xmlns:p14="http://schemas.microsoft.com/office/powerpoint/2010/main" val="4008241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EAE5F2-F84A-ED10-33DC-0446C9FDE7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77D16A01-C82D-4254-D379-F7ED18B9A4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93B1809-791D-B888-174D-CA80037F9C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31E18A8-734C-404C-8681-DBF7765A2615}" type="datetimeFigureOut">
              <a:rPr lang="en-CA" smtClean="0"/>
              <a:t>2026-10-18</a:t>
            </a:fld>
            <a:endParaRPr lang="en-CA"/>
          </a:p>
        </p:txBody>
      </p:sp>
      <p:sp>
        <p:nvSpPr>
          <p:cNvPr id="5" name="Footer Placeholder 4">
            <a:extLst>
              <a:ext uri="{FF2B5EF4-FFF2-40B4-BE49-F238E27FC236}">
                <a16:creationId xmlns:a16="http://schemas.microsoft.com/office/drawing/2014/main" id="{E6006C49-F39F-EDE6-D739-069E8F210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A600DA8B-B371-6BAD-608A-7374753B75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78152D8-3D26-425A-BFF4-D1DBACFFFF41}" type="slidenum">
              <a:rPr lang="en-CA" smtClean="0"/>
              <a:t>‹#›</a:t>
            </a:fld>
            <a:endParaRPr lang="en-CA"/>
          </a:p>
        </p:txBody>
      </p:sp>
    </p:spTree>
    <p:extLst>
      <p:ext uri="{BB962C8B-B14F-4D97-AF65-F5344CB8AC3E}">
        <p14:creationId xmlns:p14="http://schemas.microsoft.com/office/powerpoint/2010/main" val="762117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1.xml"/><Relationship Id="rId7" Type="http://schemas.openxmlformats.org/officeDocument/2006/relationships/image" Target="../media/image3.sv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svg"/><Relationship Id="rId5" Type="http://schemas.openxmlformats.org/officeDocument/2006/relationships/image" Target="../media/image1.sv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7.sv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B9949-9B6D-EA64-FD3A-CD19D5CB4722}"/>
            </a:ext>
          </a:extLst>
        </p:cNvPr>
        <p:cNvGrpSpPr/>
        <p:nvPr/>
      </p:nvGrpSpPr>
      <p:grpSpPr>
        <a:xfrm>
          <a:off x="0" y="0"/>
          <a:ext cx="0" cy="0"/>
          <a:chOff x="0" y="0"/>
          <a:chExt cx="0" cy="0"/>
        </a:xfrm>
      </p:grpSpPr>
      <p:sp>
        <p:nvSpPr>
          <p:cNvPr id="5" name="title">
            <a:extLst>
              <a:ext uri="{FF2B5EF4-FFF2-40B4-BE49-F238E27FC236}">
                <a16:creationId xmlns:a16="http://schemas.microsoft.com/office/drawing/2014/main" id="{640CD7BE-5A8D-AC04-0C12-FA21E05B22A5}"/>
              </a:ext>
            </a:extLst>
          </p:cNvPr>
          <p:cNvSpPr>
            <a:spLocks noGrp="1"/>
          </p:cNvSpPr>
          <p:nvPr/>
        </p:nvSpPr>
        <p:spPr>
          <a:xfrm>
            <a:off x="704850" y="818487"/>
            <a:ext cx="10782300" cy="647700"/>
          </a:xfrm>
          <a:prstGeom prst="rect">
            <a:avLst/>
          </a:prstGeom>
          <a:noFill/>
          <a:ln w="0">
            <a:noFill/>
            <a:prstDash val="solid"/>
          </a:ln>
        </p:spPr>
        <p:txBody>
          <a:bodyPr wrap="square" lIns="0" tIns="0" rIns="0" bIns="0" anchor="t">
            <a:noAutofit/>
          </a:bodyPr>
          <a:lstStyle>
            <a:defPPr algn="l">
              <a:defRPr sz="3975" b="1">
                <a:solidFill>
                  <a:srgbClr val="132439"/>
                </a:solidFill>
                <a:latin typeface="Nimbus Sans"/>
                <a:ea typeface="Nimbus Sans"/>
                <a:cs typeface="Nimbus Sans"/>
              </a:defRPr>
            </a:defPPr>
          </a:lstStyle>
          <a:p>
            <a:pPr algn="l">
              <a:defRPr sz="3975" b="1">
                <a:solidFill>
                  <a:srgbClr val="132439"/>
                </a:solidFill>
                <a:latin typeface="Nimbus Sans"/>
                <a:ea typeface="Nimbus Sans"/>
                <a:cs typeface="Nimbus Sans"/>
              </a:defRPr>
            </a:pPr>
            <a:r>
              <a:rPr lang="en-CA" sz="3975" b="1" dirty="0">
                <a:solidFill>
                  <a:srgbClr val="132439"/>
                </a:solidFill>
                <a:latin typeface="Nimbus Sans"/>
                <a:ea typeface="Nimbus Sans"/>
                <a:cs typeface="Nimbus Sans"/>
              </a:rPr>
              <a:t>AI Coding Agent Limitations</a:t>
            </a:r>
            <a:endParaRPr sz="3975" b="1" dirty="0">
              <a:solidFill>
                <a:srgbClr val="132439"/>
              </a:solidFill>
              <a:latin typeface="Nimbus Sans"/>
              <a:ea typeface="Nimbus Sans"/>
              <a:cs typeface="Nimbus Sans"/>
            </a:endParaRPr>
          </a:p>
        </p:txBody>
      </p:sp>
      <p:sp>
        <p:nvSpPr>
          <p:cNvPr id="9" name="prompt-label">
            <a:extLst>
              <a:ext uri="{FF2B5EF4-FFF2-40B4-BE49-F238E27FC236}">
                <a16:creationId xmlns:a16="http://schemas.microsoft.com/office/drawing/2014/main" id="{CF1170B4-4912-0A08-90AE-6E752E05AC08}"/>
              </a:ext>
            </a:extLst>
          </p:cNvPr>
          <p:cNvSpPr>
            <a:spLocks noGrp="1"/>
          </p:cNvSpPr>
          <p:nvPr/>
        </p:nvSpPr>
        <p:spPr>
          <a:xfrm>
            <a:off x="692096" y="2031228"/>
            <a:ext cx="10763250" cy="342900"/>
          </a:xfrm>
          <a:prstGeom prst="rect">
            <a:avLst/>
          </a:prstGeom>
          <a:noFill/>
          <a:ln w="0">
            <a:noFill/>
            <a:prstDash val="solid"/>
          </a:ln>
        </p:spPr>
        <p:txBody>
          <a:bodyPr wrap="square" lIns="0" tIns="0" rIns="0" bIns="0" anchor="t">
            <a:noAutofit/>
          </a:bodyPr>
          <a:lstStyle>
            <a:defPPr algn="l">
              <a:defRPr sz="1875" b="1">
                <a:solidFill>
                  <a:srgbClr val="087F8C"/>
                </a:solidFill>
                <a:latin typeface="Nimbus Sans"/>
                <a:ea typeface="Nimbus Sans"/>
                <a:cs typeface="Nimbus Sans"/>
              </a:defRPr>
            </a:defPPr>
          </a:lstStyle>
          <a:p>
            <a:pPr algn="l">
              <a:defRPr sz="1875" b="1">
                <a:solidFill>
                  <a:srgbClr val="087F8C"/>
                </a:solidFill>
                <a:latin typeface="Nimbus Sans"/>
                <a:ea typeface="Nimbus Sans"/>
                <a:cs typeface="Nimbus Sans"/>
              </a:defRPr>
            </a:pPr>
            <a:r>
              <a:rPr lang="en-CA" sz="1875" b="1" dirty="0">
                <a:solidFill>
                  <a:srgbClr val="087F8C"/>
                </a:solidFill>
                <a:latin typeface="Nimbus Sans"/>
                <a:ea typeface="Nimbus Sans"/>
                <a:cs typeface="Nimbus Sans"/>
              </a:rPr>
              <a:t>Output requires verification before deployment</a:t>
            </a:r>
            <a:endParaRPr sz="1875" b="1" dirty="0">
              <a:solidFill>
                <a:srgbClr val="087F8C"/>
              </a:solidFill>
              <a:latin typeface="Nimbus Sans"/>
              <a:ea typeface="Nimbus Sans"/>
              <a:cs typeface="Nimbus Sans"/>
            </a:endParaRPr>
          </a:p>
        </p:txBody>
      </p:sp>
      <p:pic>
        <p:nvPicPr>
          <p:cNvPr id="12" name="Graphic 11" descr="Warning with solid fill">
            <a:extLst>
              <a:ext uri="{FF2B5EF4-FFF2-40B4-BE49-F238E27FC236}">
                <a16:creationId xmlns:a16="http://schemas.microsoft.com/office/drawing/2014/main" id="{C09EF4C9-197A-D6ED-1304-4265C848E73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8806" y="3082291"/>
            <a:ext cx="342900" cy="342900"/>
          </a:xfrm>
          <a:prstGeom prst="rect">
            <a:avLst/>
          </a:prstGeom>
        </p:spPr>
      </p:pic>
      <p:sp>
        <p:nvSpPr>
          <p:cNvPr id="14" name="stage-0">
            <a:extLst>
              <a:ext uri="{FF2B5EF4-FFF2-40B4-BE49-F238E27FC236}">
                <a16:creationId xmlns:a16="http://schemas.microsoft.com/office/drawing/2014/main" id="{A2DAE1FE-B610-9E91-1D03-88FA54062DC6}"/>
              </a:ext>
            </a:extLst>
          </p:cNvPr>
          <p:cNvSpPr>
            <a:spLocks noGrp="1"/>
          </p:cNvSpPr>
          <p:nvPr/>
        </p:nvSpPr>
        <p:spPr>
          <a:xfrm>
            <a:off x="1758236" y="3091197"/>
            <a:ext cx="3545287" cy="342901"/>
          </a:xfrm>
          <a:prstGeom prst="rect">
            <a:avLst/>
          </a:prstGeom>
          <a:noFill/>
          <a:ln w="0">
            <a:noFill/>
            <a:prstDash val="solid"/>
          </a:ln>
        </p:spPr>
        <p:txBody>
          <a:bodyPr wrap="square" lIns="0" tIns="0" rIns="0" bIns="0" anchor="t">
            <a:noAutofit/>
          </a:bodyPr>
          <a:lstStyle>
            <a:defPPr algn="l">
              <a:defRPr sz="2250" b="1">
                <a:solidFill>
                  <a:srgbClr val="132439"/>
                </a:solidFill>
                <a:latin typeface="Nimbus Sans"/>
                <a:ea typeface="Nimbus Sans"/>
                <a:cs typeface="Nimbus Sans"/>
              </a:defRPr>
            </a:defPPr>
          </a:lstStyle>
          <a:p>
            <a:pPr algn="l">
              <a:defRPr sz="2250" b="1">
                <a:solidFill>
                  <a:srgbClr val="132439"/>
                </a:solidFill>
                <a:latin typeface="Nimbus Sans"/>
                <a:ea typeface="Nimbus Sans"/>
                <a:cs typeface="Nimbus Sans"/>
              </a:defRPr>
            </a:pPr>
            <a:r>
              <a:rPr lang="en-CA" sz="2250" b="1">
                <a:solidFill>
                  <a:srgbClr val="087F8C"/>
                </a:solidFill>
                <a:latin typeface="Nimbus Sans"/>
                <a:ea typeface="Nimbus Sans"/>
                <a:cs typeface="Nimbus Sans"/>
              </a:rPr>
              <a:t>Incorrect or Insecure Code</a:t>
            </a:r>
            <a:endParaRPr sz="2250" b="1" dirty="0">
              <a:solidFill>
                <a:srgbClr val="087F8C"/>
              </a:solidFill>
              <a:latin typeface="Nimbus Sans"/>
              <a:ea typeface="Nimbus Sans"/>
              <a:cs typeface="Nimbus Sans"/>
            </a:endParaRPr>
          </a:p>
        </p:txBody>
      </p:sp>
      <p:sp>
        <p:nvSpPr>
          <p:cNvPr id="16" name="detail-0">
            <a:extLst>
              <a:ext uri="{FF2B5EF4-FFF2-40B4-BE49-F238E27FC236}">
                <a16:creationId xmlns:a16="http://schemas.microsoft.com/office/drawing/2014/main" id="{44AFF059-BB3D-776F-8974-3DD59E5DDD2A}"/>
              </a:ext>
            </a:extLst>
          </p:cNvPr>
          <p:cNvSpPr>
            <a:spLocks noGrp="1"/>
          </p:cNvSpPr>
          <p:nvPr/>
        </p:nvSpPr>
        <p:spPr>
          <a:xfrm>
            <a:off x="5933579" y="3111201"/>
            <a:ext cx="5794597" cy="428625"/>
          </a:xfrm>
          <a:prstGeom prst="rect">
            <a:avLst/>
          </a:prstGeom>
          <a:noFill/>
          <a:ln w="0">
            <a:noFill/>
            <a:prstDash val="solid"/>
          </a:ln>
        </p:spPr>
        <p:txBody>
          <a:bodyPr wrap="square" lIns="0" tIns="0" rIns="0" bIns="0" anchor="t">
            <a:noAutofit/>
          </a:bodyPr>
          <a:lstStyle>
            <a:defPPr algn="l">
              <a:defRPr sz="2100" b="0">
                <a:solidFill>
                  <a:srgbClr val="536477"/>
                </a:solidFill>
                <a:latin typeface="Nimbus Sans"/>
                <a:ea typeface="Nimbus Sans"/>
                <a:cs typeface="Nimbus Sans"/>
              </a:defRPr>
            </a:defPPr>
          </a:lstStyle>
          <a:p>
            <a:pPr algn="l">
              <a:defRPr sz="2100" b="0">
                <a:solidFill>
                  <a:srgbClr val="536477"/>
                </a:solidFill>
                <a:latin typeface="Nimbus Sans"/>
                <a:ea typeface="Nimbus Sans"/>
                <a:cs typeface="Nimbus Sans"/>
              </a:defRPr>
            </a:pPr>
            <a:r>
              <a:rPr lang="en-CA" sz="2100" b="0" dirty="0">
                <a:solidFill>
                  <a:srgbClr val="536477"/>
                </a:solidFill>
                <a:latin typeface="Nimbus Sans"/>
                <a:ea typeface="Nimbus Sans"/>
                <a:cs typeface="Nimbus Sans"/>
              </a:rPr>
              <a:t>AI outputs can contain hidden vulnerabilities.</a:t>
            </a:r>
            <a:endParaRPr sz="2100" b="0" dirty="0">
              <a:solidFill>
                <a:srgbClr val="536477"/>
              </a:solidFill>
              <a:latin typeface="Nimbus Sans"/>
              <a:ea typeface="Nimbus Sans"/>
              <a:cs typeface="Nimbus Sans"/>
            </a:endParaRPr>
          </a:p>
        </p:txBody>
      </p:sp>
      <p:pic>
        <p:nvPicPr>
          <p:cNvPr id="18" name="Graphic 17" descr="Puzzle with solid fill">
            <a:extLst>
              <a:ext uri="{FF2B5EF4-FFF2-40B4-BE49-F238E27FC236}">
                <a16:creationId xmlns:a16="http://schemas.microsoft.com/office/drawing/2014/main" id="{E376489A-6D8A-11A0-DBF9-A2691A5010E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39706" y="3791354"/>
            <a:ext cx="342000" cy="342000"/>
          </a:xfrm>
          <a:prstGeom prst="rect">
            <a:avLst/>
          </a:prstGeom>
        </p:spPr>
      </p:pic>
      <p:sp>
        <p:nvSpPr>
          <p:cNvPr id="20" name="stage-0">
            <a:extLst>
              <a:ext uri="{FF2B5EF4-FFF2-40B4-BE49-F238E27FC236}">
                <a16:creationId xmlns:a16="http://schemas.microsoft.com/office/drawing/2014/main" id="{73590D4E-6A3F-BA8B-68D9-F09EA3D4A4B8}"/>
              </a:ext>
            </a:extLst>
          </p:cNvPr>
          <p:cNvSpPr>
            <a:spLocks noGrp="1"/>
          </p:cNvSpPr>
          <p:nvPr/>
        </p:nvSpPr>
        <p:spPr>
          <a:xfrm>
            <a:off x="1758235" y="3799897"/>
            <a:ext cx="3545287" cy="342901"/>
          </a:xfrm>
          <a:prstGeom prst="rect">
            <a:avLst/>
          </a:prstGeom>
          <a:noFill/>
          <a:ln w="0">
            <a:noFill/>
            <a:prstDash val="solid"/>
          </a:ln>
        </p:spPr>
        <p:txBody>
          <a:bodyPr wrap="square" lIns="0" tIns="0" rIns="0" bIns="0" anchor="t">
            <a:noAutofit/>
          </a:bodyPr>
          <a:lstStyle>
            <a:defPPr algn="l">
              <a:defRPr sz="2250" b="1">
                <a:solidFill>
                  <a:srgbClr val="132439"/>
                </a:solidFill>
                <a:latin typeface="Nimbus Sans"/>
                <a:ea typeface="Nimbus Sans"/>
                <a:cs typeface="Nimbus Sans"/>
              </a:defRPr>
            </a:defPPr>
          </a:lstStyle>
          <a:p>
            <a:pPr algn="l">
              <a:defRPr sz="2250" b="1">
                <a:solidFill>
                  <a:srgbClr val="132439"/>
                </a:solidFill>
                <a:latin typeface="Nimbus Sans"/>
                <a:ea typeface="Nimbus Sans"/>
                <a:cs typeface="Nimbus Sans"/>
              </a:defRPr>
            </a:pPr>
            <a:r>
              <a:rPr lang="en-CA" sz="2250" b="1" dirty="0">
                <a:solidFill>
                  <a:srgbClr val="087F8C"/>
                </a:solidFill>
                <a:latin typeface="Nimbus Sans"/>
                <a:ea typeface="Nimbus Sans"/>
                <a:cs typeface="Nimbus Sans"/>
              </a:rPr>
              <a:t>Context &amp; Edge Cases</a:t>
            </a:r>
            <a:endParaRPr sz="2250" b="1" dirty="0">
              <a:solidFill>
                <a:srgbClr val="087F8C"/>
              </a:solidFill>
              <a:latin typeface="Nimbus Sans"/>
              <a:ea typeface="Nimbus Sans"/>
              <a:cs typeface="Nimbus Sans"/>
            </a:endParaRPr>
          </a:p>
        </p:txBody>
      </p:sp>
      <p:sp>
        <p:nvSpPr>
          <p:cNvPr id="22" name="detail-0">
            <a:extLst>
              <a:ext uri="{FF2B5EF4-FFF2-40B4-BE49-F238E27FC236}">
                <a16:creationId xmlns:a16="http://schemas.microsoft.com/office/drawing/2014/main" id="{248A7575-0520-7028-6173-ABD5B9B5570D}"/>
              </a:ext>
            </a:extLst>
          </p:cNvPr>
          <p:cNvSpPr>
            <a:spLocks noGrp="1"/>
          </p:cNvSpPr>
          <p:nvPr/>
        </p:nvSpPr>
        <p:spPr>
          <a:xfrm>
            <a:off x="5933578" y="3787796"/>
            <a:ext cx="5913867" cy="428625"/>
          </a:xfrm>
          <a:prstGeom prst="rect">
            <a:avLst/>
          </a:prstGeom>
          <a:noFill/>
          <a:ln w="0">
            <a:noFill/>
            <a:prstDash val="solid"/>
          </a:ln>
        </p:spPr>
        <p:txBody>
          <a:bodyPr wrap="square" lIns="0" tIns="0" rIns="0" bIns="0" anchor="t">
            <a:noAutofit/>
          </a:bodyPr>
          <a:lstStyle>
            <a:defPPr algn="l">
              <a:defRPr sz="2100" b="0">
                <a:solidFill>
                  <a:srgbClr val="536477"/>
                </a:solidFill>
                <a:latin typeface="Nimbus Sans"/>
                <a:ea typeface="Nimbus Sans"/>
                <a:cs typeface="Nimbus Sans"/>
              </a:defRPr>
            </a:defPPr>
          </a:lstStyle>
          <a:p>
            <a:pPr algn="l">
              <a:defRPr sz="2100" b="0">
                <a:solidFill>
                  <a:srgbClr val="536477"/>
                </a:solidFill>
                <a:latin typeface="Nimbus Sans"/>
                <a:ea typeface="Nimbus Sans"/>
                <a:cs typeface="Nimbus Sans"/>
              </a:defRPr>
            </a:pPr>
            <a:r>
              <a:rPr lang="en-CA" sz="2100" b="0" dirty="0">
                <a:solidFill>
                  <a:srgbClr val="536477"/>
                </a:solidFill>
                <a:latin typeface="Nimbus Sans"/>
                <a:ea typeface="Nimbus Sans"/>
                <a:cs typeface="Nimbus Sans"/>
              </a:rPr>
              <a:t>Agents may misunderstand business requirements.</a:t>
            </a:r>
            <a:endParaRPr sz="2100" b="0" dirty="0">
              <a:solidFill>
                <a:srgbClr val="536477"/>
              </a:solidFill>
              <a:latin typeface="Nimbus Sans"/>
              <a:ea typeface="Nimbus Sans"/>
              <a:cs typeface="Nimbus Sans"/>
            </a:endParaRPr>
          </a:p>
        </p:txBody>
      </p:sp>
      <p:pic>
        <p:nvPicPr>
          <p:cNvPr id="24" name="Graphic 23" descr="Box with solid fill">
            <a:extLst>
              <a:ext uri="{FF2B5EF4-FFF2-40B4-BE49-F238E27FC236}">
                <a16:creationId xmlns:a16="http://schemas.microsoft.com/office/drawing/2014/main" id="{7CFA3803-3401-5B0E-653E-177DB4DC59D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39706" y="4441469"/>
            <a:ext cx="342000" cy="342000"/>
          </a:xfrm>
          <a:prstGeom prst="rect">
            <a:avLst/>
          </a:prstGeom>
        </p:spPr>
      </p:pic>
      <p:sp>
        <p:nvSpPr>
          <p:cNvPr id="26" name="stage-0">
            <a:extLst>
              <a:ext uri="{FF2B5EF4-FFF2-40B4-BE49-F238E27FC236}">
                <a16:creationId xmlns:a16="http://schemas.microsoft.com/office/drawing/2014/main" id="{D03B69DE-5B04-B3BB-1895-F0569DDB0E2D}"/>
              </a:ext>
            </a:extLst>
          </p:cNvPr>
          <p:cNvSpPr>
            <a:spLocks noGrp="1"/>
          </p:cNvSpPr>
          <p:nvPr/>
        </p:nvSpPr>
        <p:spPr>
          <a:xfrm>
            <a:off x="1758234" y="4450746"/>
            <a:ext cx="3545287" cy="342901"/>
          </a:xfrm>
          <a:prstGeom prst="rect">
            <a:avLst/>
          </a:prstGeom>
          <a:noFill/>
          <a:ln w="0">
            <a:noFill/>
            <a:prstDash val="solid"/>
          </a:ln>
        </p:spPr>
        <p:txBody>
          <a:bodyPr wrap="square" lIns="0" tIns="0" rIns="0" bIns="0" anchor="t">
            <a:noAutofit/>
          </a:bodyPr>
          <a:lstStyle>
            <a:defPPr algn="l">
              <a:defRPr sz="2250" b="1">
                <a:solidFill>
                  <a:srgbClr val="132439"/>
                </a:solidFill>
                <a:latin typeface="Nimbus Sans"/>
                <a:ea typeface="Nimbus Sans"/>
                <a:cs typeface="Nimbus Sans"/>
              </a:defRPr>
            </a:defPPr>
          </a:lstStyle>
          <a:p>
            <a:pPr algn="l">
              <a:defRPr sz="2250" b="1">
                <a:solidFill>
                  <a:srgbClr val="132439"/>
                </a:solidFill>
                <a:latin typeface="Nimbus Sans"/>
                <a:ea typeface="Nimbus Sans"/>
                <a:cs typeface="Nimbus Sans"/>
              </a:defRPr>
            </a:pPr>
            <a:r>
              <a:rPr lang="en-CA" sz="2250" b="1" dirty="0">
                <a:solidFill>
                  <a:srgbClr val="087F8C"/>
                </a:solidFill>
                <a:latin typeface="Nimbus Sans"/>
                <a:ea typeface="Nimbus Sans"/>
                <a:cs typeface="Nimbus Sans"/>
              </a:rPr>
              <a:t>Package Hallucinations</a:t>
            </a:r>
            <a:endParaRPr sz="2250" b="1" dirty="0">
              <a:solidFill>
                <a:srgbClr val="087F8C"/>
              </a:solidFill>
              <a:latin typeface="Nimbus Sans"/>
              <a:ea typeface="Nimbus Sans"/>
              <a:cs typeface="Nimbus Sans"/>
            </a:endParaRPr>
          </a:p>
        </p:txBody>
      </p:sp>
      <p:sp>
        <p:nvSpPr>
          <p:cNvPr id="30" name="detail-0">
            <a:extLst>
              <a:ext uri="{FF2B5EF4-FFF2-40B4-BE49-F238E27FC236}">
                <a16:creationId xmlns:a16="http://schemas.microsoft.com/office/drawing/2014/main" id="{8170FFC4-814A-0441-AF01-AAFF5EB34F91}"/>
              </a:ext>
            </a:extLst>
          </p:cNvPr>
          <p:cNvSpPr>
            <a:spLocks noGrp="1"/>
          </p:cNvSpPr>
          <p:nvPr/>
        </p:nvSpPr>
        <p:spPr>
          <a:xfrm>
            <a:off x="5933578" y="4477918"/>
            <a:ext cx="5794598" cy="428625"/>
          </a:xfrm>
          <a:prstGeom prst="rect">
            <a:avLst/>
          </a:prstGeom>
          <a:noFill/>
          <a:ln w="0">
            <a:noFill/>
            <a:prstDash val="solid"/>
          </a:ln>
        </p:spPr>
        <p:txBody>
          <a:bodyPr wrap="square" lIns="0" tIns="0" rIns="0" bIns="0" anchor="t">
            <a:noAutofit/>
          </a:bodyPr>
          <a:lstStyle>
            <a:defPPr algn="l">
              <a:defRPr sz="2100" b="0">
                <a:solidFill>
                  <a:srgbClr val="536477"/>
                </a:solidFill>
                <a:latin typeface="Nimbus Sans"/>
                <a:ea typeface="Nimbus Sans"/>
                <a:cs typeface="Nimbus Sans"/>
              </a:defRPr>
            </a:defPPr>
          </a:lstStyle>
          <a:p>
            <a:pPr algn="l">
              <a:defRPr sz="2100" b="0">
                <a:solidFill>
                  <a:srgbClr val="536477"/>
                </a:solidFill>
                <a:latin typeface="Nimbus Sans"/>
                <a:ea typeface="Nimbus Sans"/>
                <a:cs typeface="Nimbus Sans"/>
              </a:defRPr>
            </a:pPr>
            <a:r>
              <a:rPr lang="en-CA" sz="2100" b="0" dirty="0">
                <a:solidFill>
                  <a:srgbClr val="536477"/>
                </a:solidFill>
                <a:latin typeface="Nimbus Sans"/>
                <a:ea typeface="Nimbus Sans"/>
                <a:cs typeface="Nimbus Sans"/>
              </a:rPr>
              <a:t>Risk of referencing non-existent software packages.</a:t>
            </a:r>
            <a:endParaRPr sz="2100" b="0" dirty="0">
              <a:solidFill>
                <a:srgbClr val="536477"/>
              </a:solidFill>
              <a:latin typeface="Nimbus Sans"/>
              <a:ea typeface="Nimbus Sans"/>
              <a:cs typeface="Nimbus Sans"/>
            </a:endParaRPr>
          </a:p>
        </p:txBody>
      </p:sp>
      <p:sp>
        <p:nvSpPr>
          <p:cNvPr id="32" name="source">
            <a:extLst>
              <a:ext uri="{FF2B5EF4-FFF2-40B4-BE49-F238E27FC236}">
                <a16:creationId xmlns:a16="http://schemas.microsoft.com/office/drawing/2014/main" id="{D52AFE69-866A-ECE5-AC96-C3FC12838EE1}"/>
              </a:ext>
            </a:extLst>
          </p:cNvPr>
          <p:cNvSpPr>
            <a:spLocks noGrp="1"/>
          </p:cNvSpPr>
          <p:nvPr/>
        </p:nvSpPr>
        <p:spPr>
          <a:xfrm>
            <a:off x="704850" y="6324600"/>
            <a:ext cx="10782300" cy="247650"/>
          </a:xfrm>
          <a:prstGeom prst="rect">
            <a:avLst/>
          </a:prstGeom>
          <a:noFill/>
          <a:ln w="0">
            <a:noFill/>
            <a:prstDash val="solid"/>
          </a:ln>
        </p:spPr>
        <p:txBody>
          <a:bodyPr wrap="square" lIns="0" tIns="0" rIns="0" bIns="0" anchor="t">
            <a:noAutofit/>
          </a:bodyPr>
          <a:lstStyle>
            <a:defPPr algn="l">
              <a:defRPr sz="1275" b="0">
                <a:solidFill>
                  <a:srgbClr val="536477"/>
                </a:solidFill>
                <a:latin typeface="Nimbus Sans"/>
                <a:ea typeface="Nimbus Sans"/>
                <a:cs typeface="Nimbus Sans"/>
              </a:defRPr>
            </a:defPPr>
          </a:lstStyle>
          <a:p>
            <a:pPr>
              <a:defRPr sz="1275" b="0">
                <a:solidFill>
                  <a:srgbClr val="536477"/>
                </a:solidFill>
                <a:latin typeface="Nimbus Sans"/>
                <a:ea typeface="Nimbus Sans"/>
                <a:cs typeface="Nimbus Sans"/>
              </a:defRPr>
            </a:pPr>
            <a:r>
              <a:rPr lang="en-CA" sz="1275" dirty="0">
                <a:solidFill>
                  <a:srgbClr val="536477"/>
                </a:solidFill>
                <a:latin typeface="Nimbus Sans"/>
              </a:rPr>
              <a:t>Source: GitHub Copilot Responsible Use Documentation</a:t>
            </a:r>
            <a:endParaRPr sz="1275" b="0" dirty="0">
              <a:solidFill>
                <a:srgbClr val="536477"/>
              </a:solidFill>
              <a:latin typeface="Nimbus Sans"/>
              <a:ea typeface="Nimbus Sans"/>
              <a:cs typeface="Nimbus Sans"/>
            </a:endParaRPr>
          </a:p>
        </p:txBody>
      </p:sp>
      <p:pic>
        <p:nvPicPr>
          <p:cNvPr id="2" name="Sebastian_Risks_Voiceover">
            <a:hlinkClick r:id="" action="ppaction://media"/>
            <a:extLst>
              <a:ext uri="{FF2B5EF4-FFF2-40B4-BE49-F238E27FC236}">
                <a16:creationId xmlns:a16="http://schemas.microsoft.com/office/drawing/2014/main" id="{D3C0F7C9-2C94-7610-6B57-DFDA8CA58BE9}"/>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1211664" y="6109136"/>
            <a:ext cx="487363" cy="487363"/>
          </a:xfrm>
          <a:prstGeom prst="rect">
            <a:avLst/>
          </a:prstGeom>
        </p:spPr>
      </p:pic>
    </p:spTree>
    <p:extLst>
      <p:ext uri="{BB962C8B-B14F-4D97-AF65-F5344CB8AC3E}">
        <p14:creationId xmlns:p14="http://schemas.microsoft.com/office/powerpoint/2010/main" val="568537413"/>
      </p:ext>
    </p:extLst>
  </p:cSld>
  <p:clrMapOvr>
    <a:masterClrMapping/>
  </p:clrMapOvr>
  <mc:AlternateContent xmlns:mc="http://schemas.openxmlformats.org/markup-compatibility/2006">
    <mc:Choice xmlns:p14="http://schemas.microsoft.com/office/powerpoint/2010/main" Requires="p14">
      <p:transition spd="slow" p14:dur="2000" advTm="19306"/>
    </mc:Choice>
    <mc:Fallback>
      <p:transition spd="slow" advTm="1930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7" fill="hold" display="0">
                  <p:stCondLst>
                    <p:cond delay="indefinite"/>
                  </p:stCondLst>
                  <p:endCondLst>
                    <p:cond evt="onStopAudio" delay="0">
                      <p:tgtEl>
                        <p:sldTgt/>
                      </p:tgtEl>
                    </p:cond>
                  </p:endCondLst>
                </p:cTn>
                <p:tgtEl>
                  <p:spTgt spid="2"/>
                </p:tgtEl>
              </p:cMediaNode>
            </p:audio>
          </p:childTnLst>
        </p:cTn>
      </p:par>
    </p:tnLst>
  </p:timing>
  <p:extLst>
    <p:ext uri="{E180D4A7-C9FB-4DFB-919C-405C955672EB}">
      <p14:showEvtLst xmlns:p14="http://schemas.microsoft.com/office/powerpoint/2010/main">
        <p14:playEvt time="0" objId="2"/>
        <p14:pauseEvt time="1470" objId="2"/>
        <p14:seekEvt time="1471" objId="2" seek="1442"/>
        <p14:resumeEvt time="1471" objId="2"/>
      </p14:showEvtLst>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DABFBF18-DF4E-C8FA-2077-43012884E6F8}"/>
              </a:ext>
            </a:extLst>
          </p:cNvPr>
          <p:cNvSpPr>
            <a:spLocks noGrp="1"/>
          </p:cNvSpPr>
          <p:nvPr/>
        </p:nvSpPr>
        <p:spPr>
          <a:xfrm>
            <a:off x="692096" y="621171"/>
            <a:ext cx="10782300" cy="647700"/>
          </a:xfrm>
          <a:prstGeom prst="rect">
            <a:avLst/>
          </a:prstGeom>
          <a:noFill/>
          <a:ln w="0">
            <a:noFill/>
            <a:prstDash val="solid"/>
          </a:ln>
        </p:spPr>
        <p:txBody>
          <a:bodyPr wrap="square" lIns="0" tIns="0" rIns="0" bIns="0" anchor="t">
            <a:noAutofit/>
          </a:bodyPr>
          <a:lstStyle>
            <a:defPPr algn="l">
              <a:defRPr sz="3975" b="1">
                <a:solidFill>
                  <a:srgbClr val="132439"/>
                </a:solidFill>
                <a:latin typeface="Nimbus Sans"/>
                <a:ea typeface="Nimbus Sans"/>
                <a:cs typeface="Nimbus Sans"/>
              </a:defRPr>
            </a:defPPr>
          </a:lstStyle>
          <a:p>
            <a:pPr>
              <a:defRPr sz="3975" b="1">
                <a:solidFill>
                  <a:srgbClr val="132439"/>
                </a:solidFill>
                <a:latin typeface="Nimbus Sans"/>
                <a:ea typeface="Nimbus Sans"/>
                <a:cs typeface="Nimbus Sans"/>
              </a:defRPr>
            </a:pPr>
            <a:r>
              <a:rPr lang="en-CA" sz="3975" b="1" dirty="0">
                <a:solidFill>
                  <a:srgbClr val="132439"/>
                </a:solidFill>
                <a:latin typeface="Nimbus Sans"/>
              </a:rPr>
              <a:t>Evidence for Human Oversight and Risks in Generated Code</a:t>
            </a:r>
            <a:endParaRPr sz="3975" b="1" dirty="0">
              <a:solidFill>
                <a:srgbClr val="132439"/>
              </a:solidFill>
              <a:latin typeface="Nimbus Sans"/>
              <a:ea typeface="Nimbus Sans"/>
              <a:cs typeface="Nimbus Sans"/>
            </a:endParaRPr>
          </a:p>
        </p:txBody>
      </p:sp>
      <p:sp>
        <p:nvSpPr>
          <p:cNvPr id="9" name="prompt-label">
            <a:extLst>
              <a:ext uri="{FF2B5EF4-FFF2-40B4-BE49-F238E27FC236}">
                <a16:creationId xmlns:a16="http://schemas.microsoft.com/office/drawing/2014/main" id="{5375729F-E3D3-172C-EE9D-C3B62280DDCE}"/>
              </a:ext>
            </a:extLst>
          </p:cNvPr>
          <p:cNvSpPr>
            <a:spLocks noGrp="1"/>
          </p:cNvSpPr>
          <p:nvPr/>
        </p:nvSpPr>
        <p:spPr>
          <a:xfrm>
            <a:off x="692096" y="2031228"/>
            <a:ext cx="4523960" cy="342900"/>
          </a:xfrm>
          <a:prstGeom prst="rect">
            <a:avLst/>
          </a:prstGeom>
          <a:noFill/>
          <a:ln w="0">
            <a:noFill/>
            <a:prstDash val="solid"/>
          </a:ln>
        </p:spPr>
        <p:txBody>
          <a:bodyPr wrap="square" lIns="0" tIns="0" rIns="0" bIns="0" anchor="t">
            <a:noAutofit/>
          </a:bodyPr>
          <a:lstStyle>
            <a:defPPr algn="l">
              <a:defRPr sz="1875" b="1">
                <a:solidFill>
                  <a:srgbClr val="087F8C"/>
                </a:solidFill>
                <a:latin typeface="Nimbus Sans"/>
                <a:ea typeface="Nimbus Sans"/>
                <a:cs typeface="Nimbus Sans"/>
              </a:defRPr>
            </a:defPPr>
          </a:lstStyle>
          <a:p>
            <a:pPr>
              <a:defRPr sz="1875" b="1">
                <a:solidFill>
                  <a:srgbClr val="087F8C"/>
                </a:solidFill>
                <a:latin typeface="Nimbus Sans"/>
                <a:ea typeface="Nimbus Sans"/>
                <a:cs typeface="Nimbus Sans"/>
              </a:defRPr>
            </a:pPr>
            <a:r>
              <a:rPr lang="en-CA" sz="1875" b="1" dirty="0">
                <a:solidFill>
                  <a:srgbClr val="087F8C"/>
                </a:solidFill>
                <a:latin typeface="Nimbus Sans"/>
              </a:rPr>
              <a:t>Findings from the Sonar State of Code Survey</a:t>
            </a:r>
            <a:endParaRPr sz="1875" b="1" dirty="0">
              <a:solidFill>
                <a:srgbClr val="087F8C"/>
              </a:solidFill>
              <a:latin typeface="Nimbus Sans"/>
              <a:ea typeface="Nimbus Sans"/>
              <a:cs typeface="Nimbus Sans"/>
            </a:endParaRPr>
          </a:p>
        </p:txBody>
      </p:sp>
      <p:sp>
        <p:nvSpPr>
          <p:cNvPr id="14" name="stage-0">
            <a:extLst>
              <a:ext uri="{FF2B5EF4-FFF2-40B4-BE49-F238E27FC236}">
                <a16:creationId xmlns:a16="http://schemas.microsoft.com/office/drawing/2014/main" id="{5C335464-2FF9-2ACA-C371-D7E79A41E269}"/>
              </a:ext>
            </a:extLst>
          </p:cNvPr>
          <p:cNvSpPr>
            <a:spLocks noGrp="1"/>
          </p:cNvSpPr>
          <p:nvPr/>
        </p:nvSpPr>
        <p:spPr>
          <a:xfrm>
            <a:off x="2459855" y="3843689"/>
            <a:ext cx="3545287" cy="342901"/>
          </a:xfrm>
          <a:prstGeom prst="rect">
            <a:avLst/>
          </a:prstGeom>
          <a:noFill/>
          <a:ln w="0">
            <a:noFill/>
            <a:prstDash val="solid"/>
          </a:ln>
        </p:spPr>
        <p:txBody>
          <a:bodyPr wrap="square" lIns="0" tIns="0" rIns="0" bIns="0" anchor="t">
            <a:noAutofit/>
          </a:bodyPr>
          <a:lstStyle>
            <a:defPPr algn="l">
              <a:defRPr sz="2250" b="1">
                <a:solidFill>
                  <a:srgbClr val="132439"/>
                </a:solidFill>
                <a:latin typeface="Nimbus Sans"/>
                <a:ea typeface="Nimbus Sans"/>
                <a:cs typeface="Nimbus Sans"/>
              </a:defRPr>
            </a:defPPr>
          </a:lstStyle>
          <a:p>
            <a:pPr algn="l">
              <a:defRPr sz="2250" b="1">
                <a:solidFill>
                  <a:srgbClr val="132439"/>
                </a:solidFill>
                <a:latin typeface="Nimbus Sans"/>
                <a:ea typeface="Nimbus Sans"/>
                <a:cs typeface="Nimbus Sans"/>
              </a:defRPr>
            </a:pPr>
            <a:r>
              <a:rPr lang="en-CA" sz="2250" b="1" dirty="0">
                <a:solidFill>
                  <a:srgbClr val="087F8C"/>
                </a:solidFill>
                <a:latin typeface="Nimbus Sans"/>
                <a:ea typeface="Nimbus Sans"/>
                <a:cs typeface="Nimbus Sans"/>
              </a:rPr>
              <a:t>95%</a:t>
            </a:r>
            <a:endParaRPr sz="2250" b="1" dirty="0">
              <a:solidFill>
                <a:srgbClr val="087F8C"/>
              </a:solidFill>
              <a:latin typeface="Nimbus Sans"/>
              <a:ea typeface="Nimbus Sans"/>
              <a:cs typeface="Nimbus Sans"/>
            </a:endParaRPr>
          </a:p>
        </p:txBody>
      </p:sp>
      <p:sp>
        <p:nvSpPr>
          <p:cNvPr id="16" name="detail-0">
            <a:extLst>
              <a:ext uri="{FF2B5EF4-FFF2-40B4-BE49-F238E27FC236}">
                <a16:creationId xmlns:a16="http://schemas.microsoft.com/office/drawing/2014/main" id="{9C20B429-D169-C6F4-2031-8819DD47A26B}"/>
              </a:ext>
            </a:extLst>
          </p:cNvPr>
          <p:cNvSpPr>
            <a:spLocks noGrp="1"/>
          </p:cNvSpPr>
          <p:nvPr/>
        </p:nvSpPr>
        <p:spPr>
          <a:xfrm>
            <a:off x="1381915" y="4190338"/>
            <a:ext cx="3238702" cy="428625"/>
          </a:xfrm>
          <a:prstGeom prst="rect">
            <a:avLst/>
          </a:prstGeom>
          <a:noFill/>
          <a:ln w="0">
            <a:noFill/>
            <a:prstDash val="solid"/>
          </a:ln>
        </p:spPr>
        <p:txBody>
          <a:bodyPr wrap="square" lIns="0" tIns="0" rIns="0" bIns="0" anchor="t">
            <a:noAutofit/>
          </a:bodyPr>
          <a:lstStyle>
            <a:defPPr algn="l">
              <a:defRPr sz="2100" b="0">
                <a:solidFill>
                  <a:srgbClr val="536477"/>
                </a:solidFill>
                <a:latin typeface="Nimbus Sans"/>
                <a:ea typeface="Nimbus Sans"/>
                <a:cs typeface="Nimbus Sans"/>
              </a:defRPr>
            </a:defPPr>
          </a:lstStyle>
          <a:p>
            <a:pPr>
              <a:defRPr sz="2100" b="0">
                <a:solidFill>
                  <a:srgbClr val="536477"/>
                </a:solidFill>
                <a:latin typeface="Nimbus Sans"/>
                <a:ea typeface="Nimbus Sans"/>
                <a:cs typeface="Nimbus Sans"/>
              </a:defRPr>
            </a:pPr>
            <a:r>
              <a:rPr lang="en-CA" sz="2100" dirty="0">
                <a:solidFill>
                  <a:srgbClr val="536477"/>
                </a:solidFill>
                <a:latin typeface="Nimbus Sans"/>
              </a:rPr>
              <a:t>Of surveyed developers spend effort reviewing &amp; testing AI code.</a:t>
            </a:r>
            <a:endParaRPr sz="2100" b="0" dirty="0">
              <a:solidFill>
                <a:srgbClr val="536477"/>
              </a:solidFill>
              <a:latin typeface="Nimbus Sans"/>
              <a:ea typeface="Nimbus Sans"/>
              <a:cs typeface="Nimbus Sans"/>
            </a:endParaRPr>
          </a:p>
        </p:txBody>
      </p:sp>
      <p:sp>
        <p:nvSpPr>
          <p:cNvPr id="20" name="stage-0">
            <a:extLst>
              <a:ext uri="{FF2B5EF4-FFF2-40B4-BE49-F238E27FC236}">
                <a16:creationId xmlns:a16="http://schemas.microsoft.com/office/drawing/2014/main" id="{D5898E7F-0C1B-7E8F-E4E5-C90FA0411B14}"/>
              </a:ext>
            </a:extLst>
          </p:cNvPr>
          <p:cNvSpPr>
            <a:spLocks noGrp="1"/>
          </p:cNvSpPr>
          <p:nvPr/>
        </p:nvSpPr>
        <p:spPr>
          <a:xfrm>
            <a:off x="6115551" y="3843689"/>
            <a:ext cx="635107" cy="342901"/>
          </a:xfrm>
          <a:prstGeom prst="rect">
            <a:avLst/>
          </a:prstGeom>
          <a:noFill/>
          <a:ln w="0">
            <a:noFill/>
            <a:prstDash val="solid"/>
          </a:ln>
        </p:spPr>
        <p:txBody>
          <a:bodyPr wrap="square" lIns="0" tIns="0" rIns="0" bIns="0" anchor="t">
            <a:noAutofit/>
          </a:bodyPr>
          <a:lstStyle>
            <a:defPPr algn="l">
              <a:defRPr sz="2250" b="1">
                <a:solidFill>
                  <a:srgbClr val="132439"/>
                </a:solidFill>
                <a:latin typeface="Nimbus Sans"/>
                <a:ea typeface="Nimbus Sans"/>
                <a:cs typeface="Nimbus Sans"/>
              </a:defRPr>
            </a:defPPr>
          </a:lstStyle>
          <a:p>
            <a:pPr algn="l">
              <a:defRPr sz="2250" b="1">
                <a:solidFill>
                  <a:srgbClr val="132439"/>
                </a:solidFill>
                <a:latin typeface="Nimbus Sans"/>
                <a:ea typeface="Nimbus Sans"/>
                <a:cs typeface="Nimbus Sans"/>
              </a:defRPr>
            </a:pPr>
            <a:r>
              <a:rPr lang="en-CA" sz="2250" b="1" dirty="0">
                <a:solidFill>
                  <a:srgbClr val="087F8C"/>
                </a:solidFill>
                <a:latin typeface="Nimbus Sans"/>
                <a:ea typeface="Nimbus Sans"/>
                <a:cs typeface="Nimbus Sans"/>
              </a:rPr>
              <a:t>38%</a:t>
            </a:r>
            <a:endParaRPr sz="2250" b="1" dirty="0">
              <a:solidFill>
                <a:srgbClr val="087F8C"/>
              </a:solidFill>
              <a:latin typeface="Nimbus Sans"/>
              <a:ea typeface="Nimbus Sans"/>
              <a:cs typeface="Nimbus Sans"/>
            </a:endParaRPr>
          </a:p>
        </p:txBody>
      </p:sp>
      <p:sp>
        <p:nvSpPr>
          <p:cNvPr id="22" name="detail-0">
            <a:extLst>
              <a:ext uri="{FF2B5EF4-FFF2-40B4-BE49-F238E27FC236}">
                <a16:creationId xmlns:a16="http://schemas.microsoft.com/office/drawing/2014/main" id="{5338105B-BD76-5852-40FF-934D8B41BEF0}"/>
              </a:ext>
            </a:extLst>
          </p:cNvPr>
          <p:cNvSpPr>
            <a:spLocks noGrp="1"/>
          </p:cNvSpPr>
          <p:nvPr/>
        </p:nvSpPr>
        <p:spPr>
          <a:xfrm>
            <a:off x="4731026" y="4190338"/>
            <a:ext cx="3085108" cy="428625"/>
          </a:xfrm>
          <a:prstGeom prst="rect">
            <a:avLst/>
          </a:prstGeom>
          <a:noFill/>
          <a:ln w="0">
            <a:noFill/>
            <a:prstDash val="solid"/>
          </a:ln>
        </p:spPr>
        <p:txBody>
          <a:bodyPr wrap="square" lIns="0" tIns="0" rIns="0" bIns="0" anchor="t">
            <a:noAutofit/>
          </a:bodyPr>
          <a:lstStyle>
            <a:defPPr algn="l">
              <a:defRPr sz="2100" b="0">
                <a:solidFill>
                  <a:srgbClr val="536477"/>
                </a:solidFill>
                <a:latin typeface="Nimbus Sans"/>
                <a:ea typeface="Nimbus Sans"/>
                <a:cs typeface="Nimbus Sans"/>
              </a:defRPr>
            </a:defPPr>
          </a:lstStyle>
          <a:p>
            <a:pPr>
              <a:defRPr sz="2100" b="0">
                <a:solidFill>
                  <a:srgbClr val="536477"/>
                </a:solidFill>
                <a:latin typeface="Nimbus Sans"/>
                <a:ea typeface="Nimbus Sans"/>
                <a:cs typeface="Nimbus Sans"/>
              </a:defRPr>
            </a:pPr>
            <a:r>
              <a:rPr lang="en-CA" sz="2100" dirty="0">
                <a:solidFill>
                  <a:srgbClr val="536477"/>
                </a:solidFill>
                <a:latin typeface="Nimbus Sans"/>
              </a:rPr>
              <a:t>Report reviewing AI code requires </a:t>
            </a:r>
            <a:r>
              <a:rPr lang="en-CA" sz="2100" b="1" dirty="0">
                <a:solidFill>
                  <a:srgbClr val="536477"/>
                </a:solidFill>
                <a:latin typeface="Nimbus Sans"/>
              </a:rPr>
              <a:t>more effort</a:t>
            </a:r>
            <a:r>
              <a:rPr lang="en-CA" sz="2100" dirty="0">
                <a:solidFill>
                  <a:srgbClr val="536477"/>
                </a:solidFill>
                <a:latin typeface="Nimbus Sans"/>
              </a:rPr>
              <a:t> than human-written code.</a:t>
            </a:r>
            <a:endParaRPr sz="2100" b="0" dirty="0">
              <a:solidFill>
                <a:srgbClr val="536477"/>
              </a:solidFill>
              <a:latin typeface="Nimbus Sans"/>
              <a:ea typeface="Nimbus Sans"/>
              <a:cs typeface="Nimbus Sans"/>
            </a:endParaRPr>
          </a:p>
        </p:txBody>
      </p:sp>
      <p:sp>
        <p:nvSpPr>
          <p:cNvPr id="32" name="source">
            <a:extLst>
              <a:ext uri="{FF2B5EF4-FFF2-40B4-BE49-F238E27FC236}">
                <a16:creationId xmlns:a16="http://schemas.microsoft.com/office/drawing/2014/main" id="{B52EB119-6C0A-B150-AC17-3DD39CC916F0}"/>
              </a:ext>
            </a:extLst>
          </p:cNvPr>
          <p:cNvSpPr>
            <a:spLocks noGrp="1"/>
          </p:cNvSpPr>
          <p:nvPr/>
        </p:nvSpPr>
        <p:spPr>
          <a:xfrm>
            <a:off x="704850" y="6324600"/>
            <a:ext cx="10782300" cy="247650"/>
          </a:xfrm>
          <a:prstGeom prst="rect">
            <a:avLst/>
          </a:prstGeom>
          <a:noFill/>
          <a:ln w="0">
            <a:noFill/>
            <a:prstDash val="solid"/>
          </a:ln>
        </p:spPr>
        <p:txBody>
          <a:bodyPr wrap="square" lIns="0" tIns="0" rIns="0" bIns="0" anchor="t">
            <a:noAutofit/>
          </a:bodyPr>
          <a:lstStyle>
            <a:defPPr algn="l">
              <a:defRPr sz="1275" b="0">
                <a:solidFill>
                  <a:srgbClr val="536477"/>
                </a:solidFill>
                <a:latin typeface="Nimbus Sans"/>
                <a:ea typeface="Nimbus Sans"/>
                <a:cs typeface="Nimbus Sans"/>
              </a:defRPr>
            </a:defPPr>
          </a:lstStyle>
          <a:p>
            <a:pPr>
              <a:defRPr sz="1275" b="0">
                <a:solidFill>
                  <a:srgbClr val="536477"/>
                </a:solidFill>
                <a:latin typeface="Nimbus Sans"/>
                <a:ea typeface="Nimbus Sans"/>
                <a:cs typeface="Nimbus Sans"/>
              </a:defRPr>
            </a:pPr>
            <a:r>
              <a:rPr lang="en-CA" sz="1275" dirty="0">
                <a:solidFill>
                  <a:srgbClr val="536477"/>
                </a:solidFill>
                <a:latin typeface="Nimbus Sans"/>
              </a:rPr>
              <a:t>Source: Sonar State of Code Developer Survey Report and Veracode GenAI Code Security Analysis (2026)</a:t>
            </a:r>
          </a:p>
          <a:p>
            <a:pPr>
              <a:defRPr sz="1275" b="0">
                <a:solidFill>
                  <a:srgbClr val="536477"/>
                </a:solidFill>
                <a:latin typeface="Nimbus Sans"/>
                <a:ea typeface="Nimbus Sans"/>
                <a:cs typeface="Nimbus Sans"/>
              </a:defRPr>
            </a:pPr>
            <a:endParaRPr sz="1275" b="0" dirty="0">
              <a:solidFill>
                <a:srgbClr val="536477"/>
              </a:solidFill>
              <a:latin typeface="Nimbus Sans"/>
              <a:ea typeface="Nimbus Sans"/>
              <a:cs typeface="Nimbus Sans"/>
            </a:endParaRPr>
          </a:p>
        </p:txBody>
      </p:sp>
      <p:pic>
        <p:nvPicPr>
          <p:cNvPr id="37" name="Graphic 36" descr="Pie chart with solid fill">
            <a:extLst>
              <a:ext uri="{FF2B5EF4-FFF2-40B4-BE49-F238E27FC236}">
                <a16:creationId xmlns:a16="http://schemas.microsoft.com/office/drawing/2014/main" id="{CA877691-0818-F015-386F-2EE8D54B96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44046" y="2497888"/>
            <a:ext cx="1440000" cy="1440000"/>
          </a:xfrm>
          <a:prstGeom prst="rect">
            <a:avLst/>
          </a:prstGeom>
        </p:spPr>
      </p:pic>
      <p:pic>
        <p:nvPicPr>
          <p:cNvPr id="39" name="Graphic 38" descr="Alarm clock with solid fill">
            <a:extLst>
              <a:ext uri="{FF2B5EF4-FFF2-40B4-BE49-F238E27FC236}">
                <a16:creationId xmlns:a16="http://schemas.microsoft.com/office/drawing/2014/main" id="{3369F611-673A-D89F-0CF0-26974313E3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14620" y="2506946"/>
            <a:ext cx="1440000" cy="1440000"/>
          </a:xfrm>
          <a:prstGeom prst="rect">
            <a:avLst/>
          </a:prstGeom>
        </p:spPr>
      </p:pic>
      <p:pic>
        <p:nvPicPr>
          <p:cNvPr id="41" name="Graphic 40" descr="Shield with solid fill">
            <a:extLst>
              <a:ext uri="{FF2B5EF4-FFF2-40B4-BE49-F238E27FC236}">
                <a16:creationId xmlns:a16="http://schemas.microsoft.com/office/drawing/2014/main" id="{FC483100-E122-A2F4-5635-1B2D48EBC8E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18929" y="2506944"/>
            <a:ext cx="1440000" cy="1440000"/>
          </a:xfrm>
          <a:prstGeom prst="rect">
            <a:avLst/>
          </a:prstGeom>
        </p:spPr>
      </p:pic>
      <p:sp>
        <p:nvSpPr>
          <p:cNvPr id="43" name="prompt-label">
            <a:extLst>
              <a:ext uri="{FF2B5EF4-FFF2-40B4-BE49-F238E27FC236}">
                <a16:creationId xmlns:a16="http://schemas.microsoft.com/office/drawing/2014/main" id="{6FB40670-E989-9CAC-E7C2-A818D6E4DCA0}"/>
              </a:ext>
            </a:extLst>
          </p:cNvPr>
          <p:cNvSpPr>
            <a:spLocks noGrp="1"/>
          </p:cNvSpPr>
          <p:nvPr/>
        </p:nvSpPr>
        <p:spPr>
          <a:xfrm>
            <a:off x="8048378" y="2031228"/>
            <a:ext cx="4523960" cy="342900"/>
          </a:xfrm>
          <a:prstGeom prst="rect">
            <a:avLst/>
          </a:prstGeom>
          <a:noFill/>
          <a:ln w="0">
            <a:noFill/>
            <a:prstDash val="solid"/>
          </a:ln>
        </p:spPr>
        <p:txBody>
          <a:bodyPr wrap="square" lIns="0" tIns="0" rIns="0" bIns="0" anchor="t">
            <a:noAutofit/>
          </a:bodyPr>
          <a:lstStyle>
            <a:defPPr algn="l">
              <a:defRPr sz="1875" b="1">
                <a:solidFill>
                  <a:srgbClr val="087F8C"/>
                </a:solidFill>
                <a:latin typeface="Nimbus Sans"/>
                <a:ea typeface="Nimbus Sans"/>
                <a:cs typeface="Nimbus Sans"/>
              </a:defRPr>
            </a:defPPr>
          </a:lstStyle>
          <a:p>
            <a:pPr>
              <a:defRPr sz="1875" b="1">
                <a:solidFill>
                  <a:srgbClr val="087F8C"/>
                </a:solidFill>
                <a:latin typeface="Nimbus Sans"/>
                <a:ea typeface="Nimbus Sans"/>
                <a:cs typeface="Nimbus Sans"/>
              </a:defRPr>
            </a:pPr>
            <a:r>
              <a:rPr lang="en-CA" sz="1875" b="1" dirty="0">
                <a:solidFill>
                  <a:srgbClr val="087F8C"/>
                </a:solidFill>
                <a:latin typeface="Nimbus Sans"/>
              </a:rPr>
              <a:t>Veracode GenAI Code Security Analysis</a:t>
            </a:r>
            <a:endParaRPr sz="1875" b="1" dirty="0">
              <a:solidFill>
                <a:srgbClr val="087F8C"/>
              </a:solidFill>
              <a:latin typeface="Nimbus Sans"/>
              <a:ea typeface="Nimbus Sans"/>
              <a:cs typeface="Nimbus Sans"/>
            </a:endParaRPr>
          </a:p>
        </p:txBody>
      </p:sp>
      <p:sp>
        <p:nvSpPr>
          <p:cNvPr id="47" name="stage-0">
            <a:extLst>
              <a:ext uri="{FF2B5EF4-FFF2-40B4-BE49-F238E27FC236}">
                <a16:creationId xmlns:a16="http://schemas.microsoft.com/office/drawing/2014/main" id="{51C89552-1072-F967-578C-FC06A1F2EBF3}"/>
              </a:ext>
            </a:extLst>
          </p:cNvPr>
          <p:cNvSpPr>
            <a:spLocks noGrp="1"/>
          </p:cNvSpPr>
          <p:nvPr/>
        </p:nvSpPr>
        <p:spPr>
          <a:xfrm>
            <a:off x="9796004" y="3843689"/>
            <a:ext cx="635107" cy="342901"/>
          </a:xfrm>
          <a:prstGeom prst="rect">
            <a:avLst/>
          </a:prstGeom>
          <a:noFill/>
          <a:ln w="0">
            <a:noFill/>
            <a:prstDash val="solid"/>
          </a:ln>
        </p:spPr>
        <p:txBody>
          <a:bodyPr wrap="square" lIns="0" tIns="0" rIns="0" bIns="0" anchor="t">
            <a:noAutofit/>
          </a:bodyPr>
          <a:lstStyle>
            <a:defPPr algn="l">
              <a:defRPr sz="2250" b="1">
                <a:solidFill>
                  <a:srgbClr val="132439"/>
                </a:solidFill>
                <a:latin typeface="Nimbus Sans"/>
                <a:ea typeface="Nimbus Sans"/>
                <a:cs typeface="Nimbus Sans"/>
              </a:defRPr>
            </a:defPPr>
          </a:lstStyle>
          <a:p>
            <a:pPr algn="l">
              <a:defRPr sz="2250" b="1">
                <a:solidFill>
                  <a:srgbClr val="132439"/>
                </a:solidFill>
                <a:latin typeface="Nimbus Sans"/>
                <a:ea typeface="Nimbus Sans"/>
                <a:cs typeface="Nimbus Sans"/>
              </a:defRPr>
            </a:pPr>
            <a:r>
              <a:rPr lang="en-CA" sz="2250" b="1" dirty="0">
                <a:solidFill>
                  <a:srgbClr val="087F8C"/>
                </a:solidFill>
                <a:latin typeface="Nimbus Sans"/>
                <a:ea typeface="Nimbus Sans"/>
                <a:cs typeface="Nimbus Sans"/>
              </a:rPr>
              <a:t>44%</a:t>
            </a:r>
            <a:endParaRPr sz="2250" b="1" dirty="0">
              <a:solidFill>
                <a:srgbClr val="087F8C"/>
              </a:solidFill>
              <a:latin typeface="Nimbus Sans"/>
              <a:ea typeface="Nimbus Sans"/>
              <a:cs typeface="Nimbus Sans"/>
            </a:endParaRPr>
          </a:p>
        </p:txBody>
      </p:sp>
      <p:sp>
        <p:nvSpPr>
          <p:cNvPr id="49" name="detail-0">
            <a:extLst>
              <a:ext uri="{FF2B5EF4-FFF2-40B4-BE49-F238E27FC236}">
                <a16:creationId xmlns:a16="http://schemas.microsoft.com/office/drawing/2014/main" id="{3C47AA52-CA13-E372-7DCA-E4F144D2C197}"/>
              </a:ext>
            </a:extLst>
          </p:cNvPr>
          <p:cNvSpPr>
            <a:spLocks noGrp="1"/>
          </p:cNvSpPr>
          <p:nvPr/>
        </p:nvSpPr>
        <p:spPr>
          <a:xfrm>
            <a:off x="8636442" y="4190338"/>
            <a:ext cx="3085108" cy="428625"/>
          </a:xfrm>
          <a:prstGeom prst="rect">
            <a:avLst/>
          </a:prstGeom>
          <a:noFill/>
          <a:ln w="0">
            <a:noFill/>
            <a:prstDash val="solid"/>
          </a:ln>
        </p:spPr>
        <p:txBody>
          <a:bodyPr wrap="square" lIns="0" tIns="0" rIns="0" bIns="0" anchor="t">
            <a:noAutofit/>
          </a:bodyPr>
          <a:lstStyle>
            <a:defPPr algn="l">
              <a:defRPr sz="2100" b="0">
                <a:solidFill>
                  <a:srgbClr val="536477"/>
                </a:solidFill>
                <a:latin typeface="Nimbus Sans"/>
                <a:ea typeface="Nimbus Sans"/>
                <a:cs typeface="Nimbus Sans"/>
              </a:defRPr>
            </a:defPPr>
          </a:lstStyle>
          <a:p>
            <a:pPr>
              <a:defRPr sz="2100" b="0">
                <a:solidFill>
                  <a:srgbClr val="536477"/>
                </a:solidFill>
                <a:latin typeface="Nimbus Sans"/>
                <a:ea typeface="Nimbus Sans"/>
                <a:cs typeface="Nimbus Sans"/>
              </a:defRPr>
            </a:pPr>
            <a:r>
              <a:rPr lang="en-CA" sz="2100" dirty="0">
                <a:solidFill>
                  <a:srgbClr val="536477"/>
                </a:solidFill>
                <a:latin typeface="Nimbus Sans"/>
              </a:rPr>
              <a:t>Of tested code-generation benchmark tasks introduced a security vulnerability.</a:t>
            </a:r>
            <a:endParaRPr sz="2100" b="0" dirty="0">
              <a:solidFill>
                <a:srgbClr val="536477"/>
              </a:solidFill>
              <a:latin typeface="Nimbus Sans"/>
              <a:ea typeface="Nimbus Sans"/>
              <a:cs typeface="Nimbus Sans"/>
            </a:endParaRPr>
          </a:p>
        </p:txBody>
      </p:sp>
      <p:sp>
        <p:nvSpPr>
          <p:cNvPr id="51" name="prompt-label">
            <a:extLst>
              <a:ext uri="{FF2B5EF4-FFF2-40B4-BE49-F238E27FC236}">
                <a16:creationId xmlns:a16="http://schemas.microsoft.com/office/drawing/2014/main" id="{72B0D963-F49F-E9F2-D5E4-7D484DD7F4A6}"/>
              </a:ext>
            </a:extLst>
          </p:cNvPr>
          <p:cNvSpPr>
            <a:spLocks noGrp="1"/>
          </p:cNvSpPr>
          <p:nvPr/>
        </p:nvSpPr>
        <p:spPr>
          <a:xfrm>
            <a:off x="8636442" y="5309681"/>
            <a:ext cx="3869144" cy="342900"/>
          </a:xfrm>
          <a:prstGeom prst="rect">
            <a:avLst/>
          </a:prstGeom>
          <a:noFill/>
          <a:ln w="0">
            <a:noFill/>
            <a:prstDash val="solid"/>
          </a:ln>
        </p:spPr>
        <p:txBody>
          <a:bodyPr wrap="square" lIns="0" tIns="0" rIns="0" bIns="0" anchor="t">
            <a:noAutofit/>
          </a:bodyPr>
          <a:lstStyle>
            <a:defPPr algn="l">
              <a:defRPr sz="1875" b="1">
                <a:solidFill>
                  <a:srgbClr val="087F8C"/>
                </a:solidFill>
                <a:latin typeface="Nimbus Sans"/>
                <a:ea typeface="Nimbus Sans"/>
                <a:cs typeface="Nimbus Sans"/>
              </a:defRPr>
            </a:defPPr>
          </a:lstStyle>
          <a:p>
            <a:pPr>
              <a:defRPr sz="1875" b="1">
                <a:solidFill>
                  <a:srgbClr val="087F8C"/>
                </a:solidFill>
                <a:latin typeface="Nimbus Sans"/>
                <a:ea typeface="Nimbus Sans"/>
                <a:cs typeface="Nimbus Sans"/>
              </a:defRPr>
            </a:pPr>
            <a:r>
              <a:rPr lang="en-CA" sz="1600" b="1" dirty="0">
                <a:solidFill>
                  <a:srgbClr val="087F8C"/>
                </a:solidFill>
                <a:latin typeface="Nimbus Sans"/>
              </a:rPr>
              <a:t>Finding applies to specific experimental benchmark tasks and should not be generalized to all tools.</a:t>
            </a:r>
            <a:endParaRPr sz="1600" b="1" dirty="0">
              <a:solidFill>
                <a:srgbClr val="087F8C"/>
              </a:solidFill>
              <a:latin typeface="Nimbus Sans"/>
              <a:ea typeface="Nimbus Sans"/>
              <a:cs typeface="Nimbus Sans"/>
            </a:endParaRPr>
          </a:p>
        </p:txBody>
      </p:sp>
    </p:spTree>
    <p:extLst>
      <p:ext uri="{BB962C8B-B14F-4D97-AF65-F5344CB8AC3E}">
        <p14:creationId xmlns:p14="http://schemas.microsoft.com/office/powerpoint/2010/main" val="1025099556"/>
      </p:ext>
    </p:extLst>
  </p:cSld>
  <p:clrMapOvr>
    <a:masterClrMapping/>
  </p:clrMapOvr>
  <mc:AlternateContent xmlns:mc="http://schemas.openxmlformats.org/markup-compatibility/2006">
    <mc:Choice xmlns:p14="http://schemas.microsoft.com/office/powerpoint/2010/main" Requires="p14">
      <p:transition spd="slow" p14:dur="2000" advTm="39677"/>
    </mc:Choice>
    <mc:Fallback>
      <p:transition spd="slow" advTm="3967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4A2E0-27AD-5B8F-B2BC-26290A7B1DB0}"/>
            </a:ext>
          </a:extLst>
        </p:cNvPr>
        <p:cNvGrpSpPr/>
        <p:nvPr/>
      </p:nvGrpSpPr>
      <p:grpSpPr>
        <a:xfrm>
          <a:off x="0" y="0"/>
          <a:ext cx="0" cy="0"/>
          <a:chOff x="0" y="0"/>
          <a:chExt cx="0" cy="0"/>
        </a:xfrm>
      </p:grpSpPr>
      <p:sp>
        <p:nvSpPr>
          <p:cNvPr id="5" name="title">
            <a:extLst>
              <a:ext uri="{FF2B5EF4-FFF2-40B4-BE49-F238E27FC236}">
                <a16:creationId xmlns:a16="http://schemas.microsoft.com/office/drawing/2014/main" id="{8577971D-E69C-8B49-7E9E-EB8E02B063C6}"/>
              </a:ext>
            </a:extLst>
          </p:cNvPr>
          <p:cNvSpPr>
            <a:spLocks noGrp="1"/>
          </p:cNvSpPr>
          <p:nvPr/>
        </p:nvSpPr>
        <p:spPr>
          <a:xfrm>
            <a:off x="704850" y="818487"/>
            <a:ext cx="10782300" cy="647700"/>
          </a:xfrm>
          <a:prstGeom prst="rect">
            <a:avLst/>
          </a:prstGeom>
          <a:noFill/>
          <a:ln w="0">
            <a:noFill/>
            <a:prstDash val="solid"/>
          </a:ln>
        </p:spPr>
        <p:txBody>
          <a:bodyPr wrap="square" lIns="0" tIns="0" rIns="0" bIns="0" anchor="t">
            <a:noAutofit/>
          </a:bodyPr>
          <a:lstStyle>
            <a:defPPr algn="l">
              <a:defRPr sz="3975" b="1">
                <a:solidFill>
                  <a:srgbClr val="132439"/>
                </a:solidFill>
                <a:latin typeface="Nimbus Sans"/>
                <a:ea typeface="Nimbus Sans"/>
                <a:cs typeface="Nimbus Sans"/>
              </a:defRPr>
            </a:defPPr>
          </a:lstStyle>
          <a:p>
            <a:pPr>
              <a:defRPr sz="3975" b="1">
                <a:solidFill>
                  <a:srgbClr val="132439"/>
                </a:solidFill>
                <a:latin typeface="Nimbus Sans"/>
                <a:ea typeface="Nimbus Sans"/>
                <a:cs typeface="Nimbus Sans"/>
              </a:defRPr>
            </a:pPr>
            <a:r>
              <a:rPr lang="en-CA" sz="3975" b="1" dirty="0">
                <a:solidFill>
                  <a:srgbClr val="132439"/>
                </a:solidFill>
                <a:latin typeface="Nimbus Sans"/>
              </a:rPr>
              <a:t>Shifting Developer Responsibilities</a:t>
            </a:r>
            <a:endParaRPr sz="3975" b="1" dirty="0">
              <a:solidFill>
                <a:srgbClr val="132439"/>
              </a:solidFill>
              <a:latin typeface="Nimbus Sans"/>
              <a:ea typeface="Nimbus Sans"/>
              <a:cs typeface="Nimbus Sans"/>
            </a:endParaRPr>
          </a:p>
        </p:txBody>
      </p:sp>
      <p:sp>
        <p:nvSpPr>
          <p:cNvPr id="9" name="prompt-label">
            <a:extLst>
              <a:ext uri="{FF2B5EF4-FFF2-40B4-BE49-F238E27FC236}">
                <a16:creationId xmlns:a16="http://schemas.microsoft.com/office/drawing/2014/main" id="{B4EE8505-DE22-3C45-7237-F1F04FB5C535}"/>
              </a:ext>
            </a:extLst>
          </p:cNvPr>
          <p:cNvSpPr>
            <a:spLocks noGrp="1"/>
          </p:cNvSpPr>
          <p:nvPr/>
        </p:nvSpPr>
        <p:spPr>
          <a:xfrm>
            <a:off x="692096" y="2222063"/>
            <a:ext cx="10763250" cy="342900"/>
          </a:xfrm>
          <a:prstGeom prst="rect">
            <a:avLst/>
          </a:prstGeom>
          <a:noFill/>
          <a:ln w="0">
            <a:noFill/>
            <a:prstDash val="solid"/>
          </a:ln>
        </p:spPr>
        <p:txBody>
          <a:bodyPr wrap="square" lIns="0" tIns="0" rIns="0" bIns="0" anchor="t">
            <a:noAutofit/>
          </a:bodyPr>
          <a:lstStyle>
            <a:defPPr algn="l">
              <a:defRPr sz="1875" b="1">
                <a:solidFill>
                  <a:srgbClr val="087F8C"/>
                </a:solidFill>
                <a:latin typeface="Nimbus Sans"/>
                <a:ea typeface="Nimbus Sans"/>
                <a:cs typeface="Nimbus Sans"/>
              </a:defRPr>
            </a:defPPr>
          </a:lstStyle>
          <a:p>
            <a:pPr>
              <a:defRPr sz="1875" b="1">
                <a:solidFill>
                  <a:srgbClr val="087F8C"/>
                </a:solidFill>
                <a:latin typeface="Nimbus Sans"/>
                <a:ea typeface="Nimbus Sans"/>
                <a:cs typeface="Nimbus Sans"/>
              </a:defRPr>
            </a:pPr>
            <a:r>
              <a:rPr lang="en-CA" sz="1875" b="1" dirty="0">
                <a:solidFill>
                  <a:srgbClr val="087F8C"/>
                </a:solidFill>
                <a:latin typeface="Nimbus Sans"/>
              </a:rPr>
              <a:t>AI agents support developers as assistants, not replacements</a:t>
            </a:r>
            <a:endParaRPr sz="1875" b="1" dirty="0">
              <a:solidFill>
                <a:srgbClr val="087F8C"/>
              </a:solidFill>
              <a:latin typeface="Nimbus Sans"/>
              <a:ea typeface="Nimbus Sans"/>
              <a:cs typeface="Nimbus Sans"/>
            </a:endParaRPr>
          </a:p>
        </p:txBody>
      </p:sp>
      <p:graphicFrame>
        <p:nvGraphicFramePr>
          <p:cNvPr id="3" name="Table 2">
            <a:extLst>
              <a:ext uri="{FF2B5EF4-FFF2-40B4-BE49-F238E27FC236}">
                <a16:creationId xmlns:a16="http://schemas.microsoft.com/office/drawing/2014/main" id="{DD63C42C-08BC-7211-E881-A055531EA166}"/>
              </a:ext>
            </a:extLst>
          </p:cNvPr>
          <p:cNvGraphicFramePr/>
          <p:nvPr>
            <p:extLst>
              <p:ext uri="{D42A27DB-BD31-4B8C-83A1-F6EECF244321}">
                <p14:modId xmlns:p14="http://schemas.microsoft.com/office/powerpoint/2010/main" val="402644798"/>
              </p:ext>
            </p:extLst>
          </p:nvPr>
        </p:nvGraphicFramePr>
        <p:xfrm>
          <a:off x="886968" y="3130004"/>
          <a:ext cx="10782298" cy="1430689"/>
        </p:xfrm>
        <a:graphic>
          <a:graphicData uri="http://schemas.openxmlformats.org/drawingml/2006/table">
            <a:tbl>
              <a:tblPr/>
              <a:tblGrid>
                <a:gridCol w="2095501">
                  <a:extLst>
                    <a:ext uri="{9D8B030D-6E8A-4147-A177-3AD203B41FA5}">
                      <a16:colId xmlns:a16="http://schemas.microsoft.com/office/drawing/2014/main" val="20000"/>
                    </a:ext>
                  </a:extLst>
                </a:gridCol>
                <a:gridCol w="8686797">
                  <a:extLst>
                    <a:ext uri="{9D8B030D-6E8A-4147-A177-3AD203B41FA5}">
                      <a16:colId xmlns:a16="http://schemas.microsoft.com/office/drawing/2014/main" val="20001"/>
                    </a:ext>
                  </a:extLst>
                </a:gridCol>
              </a:tblGrid>
              <a:tr h="690791">
                <a:tc>
                  <a:txBody>
                    <a:bodyPr/>
                    <a:lstStyle/>
                    <a:p>
                      <a:pPr algn="l"/>
                      <a:r>
                        <a:rPr lang="en-CA" sz="1880" b="1" dirty="0">
                          <a:solidFill>
                            <a:srgbClr val="132439"/>
                          </a:solidFill>
                          <a:latin typeface="Nimbus Sans"/>
                          <a:ea typeface="Nimbus Sans"/>
                          <a:cs typeface="Nimbus Sans"/>
                        </a:rPr>
                        <a:t>Role Shift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CA" sz="1880" b="0" dirty="0">
                          <a:solidFill>
                            <a:srgbClr val="536477"/>
                          </a:solidFill>
                          <a:latin typeface="Nimbus Sans"/>
                          <a:ea typeface="Nimbus Sans"/>
                          <a:cs typeface="Nimbus Sans"/>
                        </a:rPr>
                        <a:t>Code Auditing, System Architecture, Edge-Case Testing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739898">
                <a:tc>
                  <a:txBody>
                    <a:bodyPr/>
                    <a:lstStyle/>
                    <a:p>
                      <a:pPr algn="l"/>
                      <a:r>
                        <a:rPr lang="en-CA" sz="1875" b="1" dirty="0">
                          <a:solidFill>
                            <a:srgbClr val="132439"/>
                          </a:solidFill>
                          <a:latin typeface="Nimbus Sans"/>
                          <a:ea typeface="Nimbus Sans"/>
                          <a:cs typeface="Nimbus Sans"/>
                        </a:rPr>
                        <a:t>Code Principle</a:t>
                      </a:r>
                      <a:endParaRPr sz="1875" b="1" dirty="0">
                        <a:solidFill>
                          <a:srgbClr val="132439"/>
                        </a:solidFill>
                        <a:latin typeface="Nimbus Sans"/>
                        <a:ea typeface="Nimbus Sans"/>
                        <a:cs typeface="Nimbus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CA" sz="1875" b="0" dirty="0">
                          <a:solidFill>
                            <a:srgbClr val="536477"/>
                          </a:solidFill>
                          <a:latin typeface="Nimbus Sans"/>
                          <a:ea typeface="Nimbus Sans"/>
                          <a:cs typeface="Nimbus Sans"/>
                        </a:rPr>
                        <a:t>Humans &amp; organizations remain responsible for production readiness.</a:t>
                      </a:r>
                      <a:endParaRPr sz="1875" b="0" dirty="0">
                        <a:solidFill>
                          <a:srgbClr val="536477"/>
                        </a:solidFill>
                        <a:latin typeface="Nimbus Sans"/>
                        <a:ea typeface="Nimbus Sans"/>
                        <a:cs typeface="Nimbus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6" name="prompt-label">
            <a:extLst>
              <a:ext uri="{FF2B5EF4-FFF2-40B4-BE49-F238E27FC236}">
                <a16:creationId xmlns:a16="http://schemas.microsoft.com/office/drawing/2014/main" id="{E88C4225-1CC3-9AC1-9991-20E29ABEA7C8}"/>
              </a:ext>
            </a:extLst>
          </p:cNvPr>
          <p:cNvSpPr>
            <a:spLocks noGrp="1"/>
          </p:cNvSpPr>
          <p:nvPr/>
        </p:nvSpPr>
        <p:spPr>
          <a:xfrm>
            <a:off x="1042946" y="5125734"/>
            <a:ext cx="9500483" cy="342900"/>
          </a:xfrm>
          <a:prstGeom prst="rect">
            <a:avLst/>
          </a:prstGeom>
          <a:noFill/>
          <a:ln w="0">
            <a:noFill/>
            <a:prstDash val="solid"/>
          </a:ln>
        </p:spPr>
        <p:txBody>
          <a:bodyPr wrap="square" lIns="0" tIns="0" rIns="0" bIns="0" anchor="t">
            <a:noAutofit/>
          </a:bodyPr>
          <a:lstStyle>
            <a:defPPr algn="l">
              <a:defRPr sz="1875" b="1">
                <a:solidFill>
                  <a:srgbClr val="087F8C"/>
                </a:solidFill>
                <a:latin typeface="Nimbus Sans"/>
                <a:ea typeface="Nimbus Sans"/>
                <a:cs typeface="Nimbus Sans"/>
              </a:defRPr>
            </a:defPPr>
          </a:lstStyle>
          <a:p>
            <a:pPr>
              <a:defRPr sz="1875" b="1">
                <a:solidFill>
                  <a:srgbClr val="087F8C"/>
                </a:solidFill>
                <a:latin typeface="Nimbus Sans"/>
                <a:ea typeface="Nimbus Sans"/>
                <a:cs typeface="Nimbus Sans"/>
              </a:defRPr>
            </a:pPr>
            <a:r>
              <a:rPr lang="en-CA" sz="1600" b="1" dirty="0">
                <a:solidFill>
                  <a:srgbClr val="087F8C"/>
                </a:solidFill>
                <a:latin typeface="Nimbus Sans"/>
              </a:rPr>
              <a:t>Value depends on careful testing and responsible human review.</a:t>
            </a:r>
            <a:endParaRPr sz="1600" b="1" dirty="0">
              <a:solidFill>
                <a:srgbClr val="087F8C"/>
              </a:solidFill>
              <a:latin typeface="Nimbus Sans"/>
              <a:ea typeface="Nimbus Sans"/>
              <a:cs typeface="Nimbus Sans"/>
            </a:endParaRPr>
          </a:p>
        </p:txBody>
      </p:sp>
    </p:spTree>
    <p:extLst>
      <p:ext uri="{BB962C8B-B14F-4D97-AF65-F5344CB8AC3E}">
        <p14:creationId xmlns:p14="http://schemas.microsoft.com/office/powerpoint/2010/main" val="1568688288"/>
      </p:ext>
    </p:extLst>
  </p:cSld>
  <p:clrMapOvr>
    <a:masterClrMapping/>
  </p:clrMapOvr>
  <mc:AlternateContent xmlns:mc="http://schemas.openxmlformats.org/markup-compatibility/2006">
    <mc:Choice xmlns:p14="http://schemas.microsoft.com/office/powerpoint/2010/main" Requires="p14">
      <p:transition spd="slow" p14:dur="2000" advTm="37399"/>
    </mc:Choice>
    <mc:Fallback>
      <p:transition spd="slow" advTm="37399"/>
    </mc:Fallback>
  </mc:AlternateContent>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 name="title">
            <a:extLst>
              <a:ext uri="{FF2B5EF4-FFF2-40B4-BE49-F238E27FC236}">
                <a16:creationId xmlns:a16="http://schemas.microsoft.com/office/drawing/2014/main" id="{4DF51A0F-62DD-4B98-B389-FFF270695A54}"/>
              </a:ext>
            </a:extLst>
          </p:cNvPr>
          <p:cNvSpPr>
            <a:spLocks noGrp="1"/>
          </p:cNvSpPr>
          <p:nvPr/>
        </p:nvSpPr>
        <p:spPr>
          <a:xfrm>
            <a:off x="704850" y="581025"/>
            <a:ext cx="10782300" cy="647700"/>
          </a:xfrm>
          <a:prstGeom prst="rect">
            <a:avLst/>
          </a:prstGeom>
          <a:noFill/>
          <a:ln w="0">
            <a:noFill/>
            <a:prstDash val="solid"/>
          </a:ln>
        </p:spPr>
        <p:txBody>
          <a:bodyPr wrap="square" lIns="0" tIns="0" rIns="0" bIns="0" anchor="t">
            <a:noAutofit/>
          </a:bodyPr>
          <a:lstStyle>
            <a:defPPr algn="l">
              <a:defRPr sz="3750" b="1">
                <a:solidFill>
                  <a:srgbClr val="132439"/>
                </a:solidFill>
                <a:latin typeface="Nimbus Sans"/>
                <a:ea typeface="Nimbus Sans"/>
                <a:cs typeface="Nimbus Sans"/>
              </a:defRPr>
            </a:defPPr>
          </a:lstStyle>
          <a:p>
            <a:pPr algn="l">
              <a:defRPr sz="3750" b="1">
                <a:solidFill>
                  <a:srgbClr val="132439"/>
                </a:solidFill>
                <a:latin typeface="Nimbus Sans"/>
                <a:ea typeface="Nimbus Sans"/>
                <a:cs typeface="Nimbus Sans"/>
              </a:defRPr>
            </a:pPr>
            <a:r>
              <a:rPr sz="3750" b="1" dirty="0">
                <a:solidFill>
                  <a:srgbClr val="132439"/>
                </a:solidFill>
                <a:latin typeface="Nimbus Sans"/>
                <a:ea typeface="Nimbus Sans"/>
                <a:cs typeface="Nimbus Sans"/>
              </a:rPr>
              <a:t>Sources for the </a:t>
            </a:r>
            <a:r>
              <a:rPr lang="en-CA" sz="3750" b="1" dirty="0">
                <a:solidFill>
                  <a:srgbClr val="132439"/>
                </a:solidFill>
                <a:latin typeface="Nimbus Sans"/>
                <a:ea typeface="Nimbus Sans"/>
                <a:cs typeface="Nimbus Sans"/>
              </a:rPr>
              <a:t>Closing</a:t>
            </a:r>
            <a:r>
              <a:rPr sz="3750" b="1" dirty="0">
                <a:solidFill>
                  <a:srgbClr val="132439"/>
                </a:solidFill>
                <a:latin typeface="Nimbus Sans"/>
                <a:ea typeface="Nimbus Sans"/>
                <a:cs typeface="Nimbus Sans"/>
              </a:rPr>
              <a:t> </a:t>
            </a:r>
            <a:r>
              <a:rPr lang="en-CA" sz="3750" b="1" dirty="0">
                <a:solidFill>
                  <a:srgbClr val="132439"/>
                </a:solidFill>
                <a:latin typeface="Nimbus Sans"/>
                <a:ea typeface="Nimbus Sans"/>
                <a:cs typeface="Nimbus Sans"/>
              </a:rPr>
              <a:t>S</a:t>
            </a:r>
            <a:r>
              <a:rPr sz="3750" b="1" dirty="0" err="1">
                <a:solidFill>
                  <a:srgbClr val="132439"/>
                </a:solidFill>
                <a:latin typeface="Nimbus Sans"/>
                <a:ea typeface="Nimbus Sans"/>
                <a:cs typeface="Nimbus Sans"/>
              </a:rPr>
              <a:t>ection</a:t>
            </a:r>
            <a:endParaRPr sz="3750" b="1" dirty="0">
              <a:solidFill>
                <a:srgbClr val="132439"/>
              </a:solidFill>
              <a:latin typeface="Nimbus Sans"/>
              <a:ea typeface="Nimbus Sans"/>
              <a:cs typeface="Nimbus Sans"/>
            </a:endParaRPr>
          </a:p>
        </p:txBody>
      </p:sp>
      <p:sp>
        <p:nvSpPr>
          <p:cNvPr id="2" name="ref-name-0">
            <a:extLst>
              <a:ext uri="{FF2B5EF4-FFF2-40B4-BE49-F238E27FC236}">
                <a16:creationId xmlns:a16="http://schemas.microsoft.com/office/drawing/2014/main" id="{7D06A3CA-2528-4C31-BA6A-4363166C91CC}"/>
              </a:ext>
            </a:extLst>
          </p:cNvPr>
          <p:cNvSpPr>
            <a:spLocks noGrp="1"/>
          </p:cNvSpPr>
          <p:nvPr/>
        </p:nvSpPr>
        <p:spPr>
          <a:xfrm>
            <a:off x="723900" y="1571625"/>
            <a:ext cx="10744200" cy="342900"/>
          </a:xfrm>
          <a:prstGeom prst="rect">
            <a:avLst/>
          </a:prstGeom>
          <a:noFill/>
          <a:ln w="0">
            <a:noFill/>
            <a:prstDash val="solid"/>
          </a:ln>
        </p:spPr>
        <p:txBody>
          <a:bodyPr wrap="square" lIns="0" tIns="0" rIns="0" bIns="0" anchor="t">
            <a:noAutofit/>
          </a:bodyPr>
          <a:lstStyle>
            <a:defPPr algn="l">
              <a:defRPr sz="2025" b="1">
                <a:solidFill>
                  <a:srgbClr val="087F8C"/>
                </a:solidFill>
                <a:latin typeface="Nimbus Sans"/>
                <a:ea typeface="Nimbus Sans"/>
                <a:cs typeface="Nimbus Sans"/>
              </a:defRPr>
            </a:defPPr>
          </a:lstStyle>
          <a:p>
            <a:pPr algn="l">
              <a:defRPr sz="2025" b="1">
                <a:solidFill>
                  <a:srgbClr val="087F8C"/>
                </a:solidFill>
                <a:latin typeface="Nimbus Sans"/>
                <a:ea typeface="Nimbus Sans"/>
                <a:cs typeface="Nimbus Sans"/>
              </a:defRPr>
            </a:pPr>
            <a:r>
              <a:rPr sz="2025" b="1" dirty="0">
                <a:solidFill>
                  <a:srgbClr val="087F8C"/>
                </a:solidFill>
                <a:latin typeface="Nimbus Sans"/>
                <a:ea typeface="Nimbus Sans"/>
                <a:cs typeface="Nimbus Sans"/>
              </a:rPr>
              <a:t>GitHub </a:t>
            </a:r>
            <a:r>
              <a:rPr lang="en-CA" sz="2025" b="1" dirty="0">
                <a:solidFill>
                  <a:srgbClr val="087F8C"/>
                </a:solidFill>
                <a:latin typeface="Nimbus Sans"/>
                <a:ea typeface="Nimbus Sans"/>
                <a:cs typeface="Nimbus Sans"/>
              </a:rPr>
              <a:t>Docs	</a:t>
            </a:r>
            <a:endParaRPr sz="2025" b="1" dirty="0">
              <a:solidFill>
                <a:srgbClr val="087F8C"/>
              </a:solidFill>
              <a:latin typeface="Nimbus Sans"/>
              <a:ea typeface="Nimbus Sans"/>
              <a:cs typeface="Nimbus Sans"/>
            </a:endParaRPr>
          </a:p>
        </p:txBody>
      </p:sp>
      <p:sp>
        <p:nvSpPr>
          <p:cNvPr id="3" name="ref-description-0">
            <a:extLst>
              <a:ext uri="{FF2B5EF4-FFF2-40B4-BE49-F238E27FC236}">
                <a16:creationId xmlns:a16="http://schemas.microsoft.com/office/drawing/2014/main" id="{14996F8A-8052-4AB6-9A66-76620A90B288}"/>
              </a:ext>
            </a:extLst>
          </p:cNvPr>
          <p:cNvSpPr>
            <a:spLocks noGrp="1"/>
          </p:cNvSpPr>
          <p:nvPr/>
        </p:nvSpPr>
        <p:spPr>
          <a:xfrm>
            <a:off x="723900" y="1933575"/>
            <a:ext cx="10744200" cy="314325"/>
          </a:xfrm>
          <a:prstGeom prst="rect">
            <a:avLst/>
          </a:prstGeom>
          <a:noFill/>
          <a:ln w="0">
            <a:noFill/>
            <a:prstDash val="solid"/>
          </a:ln>
        </p:spPr>
        <p:txBody>
          <a:bodyPr wrap="square" lIns="0" tIns="0" rIns="0" bIns="0" anchor="t">
            <a:noAutofit/>
          </a:bodyPr>
          <a:lstStyle>
            <a:defPPr algn="l">
              <a:defRPr sz="1875" b="0">
                <a:solidFill>
                  <a:srgbClr val="132439"/>
                </a:solidFill>
                <a:latin typeface="Nimbus Sans"/>
                <a:ea typeface="Nimbus Sans"/>
                <a:cs typeface="Nimbus Sans"/>
              </a:defRPr>
            </a:defPPr>
          </a:lstStyle>
          <a:p>
            <a:pPr algn="l">
              <a:defRPr sz="1875" b="0">
                <a:solidFill>
                  <a:srgbClr val="132439"/>
                </a:solidFill>
                <a:latin typeface="Nimbus Sans"/>
                <a:ea typeface="Nimbus Sans"/>
                <a:cs typeface="Nimbus Sans"/>
              </a:defRPr>
            </a:pPr>
            <a:r>
              <a:rPr lang="en-CA" sz="1875" b="0" dirty="0">
                <a:solidFill>
                  <a:srgbClr val="132439"/>
                </a:solidFill>
                <a:latin typeface="Nimbus Sans"/>
                <a:ea typeface="Nimbus Sans"/>
                <a:cs typeface="Nimbus Sans"/>
              </a:rPr>
              <a:t>Use of AI Agents</a:t>
            </a:r>
            <a:endParaRPr sz="1875" b="0" dirty="0">
              <a:solidFill>
                <a:srgbClr val="132439"/>
              </a:solidFill>
              <a:latin typeface="Nimbus Sans"/>
              <a:ea typeface="Nimbus Sans"/>
              <a:cs typeface="Nimbus Sans"/>
            </a:endParaRPr>
          </a:p>
        </p:txBody>
      </p:sp>
      <p:sp>
        <p:nvSpPr>
          <p:cNvPr id="4" name="ref-url-0">
            <a:extLst>
              <a:ext uri="{FF2B5EF4-FFF2-40B4-BE49-F238E27FC236}">
                <a16:creationId xmlns:a16="http://schemas.microsoft.com/office/drawing/2014/main" id="{2B1A16BD-9ADC-4928-8F92-6A0F0EE1E2EE}"/>
              </a:ext>
            </a:extLst>
          </p:cNvPr>
          <p:cNvSpPr>
            <a:spLocks noGrp="1"/>
          </p:cNvSpPr>
          <p:nvPr/>
        </p:nvSpPr>
        <p:spPr>
          <a:xfrm>
            <a:off x="723900" y="2276475"/>
            <a:ext cx="10744200" cy="333375"/>
          </a:xfrm>
          <a:prstGeom prst="rect">
            <a:avLst/>
          </a:prstGeom>
          <a:noFill/>
          <a:ln w="0">
            <a:noFill/>
            <a:prstDash val="solid"/>
          </a:ln>
        </p:spPr>
        <p:txBody>
          <a:bodyPr wrap="square" lIns="0" tIns="0" rIns="0" bIns="0" anchor="t">
            <a:noAutofit/>
          </a:bodyPr>
          <a:lstStyle>
            <a:defPPr algn="l">
              <a:defRPr sz="1350" b="0">
                <a:solidFill>
                  <a:srgbClr val="536477"/>
                </a:solidFill>
                <a:latin typeface="Nimbus Sans"/>
                <a:ea typeface="Nimbus Sans"/>
                <a:cs typeface="Nimbus Sans"/>
              </a:defRPr>
            </a:defPPr>
          </a:lstStyle>
          <a:p>
            <a:pPr>
              <a:defRPr sz="1350" b="0">
                <a:solidFill>
                  <a:srgbClr val="536477"/>
                </a:solidFill>
                <a:latin typeface="Nimbus Sans"/>
                <a:ea typeface="Nimbus Sans"/>
                <a:cs typeface="Nimbus Sans"/>
              </a:defRPr>
            </a:pPr>
            <a:r>
              <a:rPr lang="en-CA" sz="1350" dirty="0">
                <a:solidFill>
                  <a:srgbClr val="536477"/>
                </a:solidFill>
                <a:latin typeface="Nimbus Sans"/>
              </a:rPr>
              <a:t>https://docs.github.com/en/copilot/responsible-use/agents</a:t>
            </a:r>
            <a:endParaRPr sz="1350" b="0" dirty="0">
              <a:solidFill>
                <a:srgbClr val="536477"/>
              </a:solidFill>
              <a:latin typeface="Nimbus Sans"/>
              <a:ea typeface="Nimbus Sans"/>
              <a:cs typeface="Nimbus Sans"/>
            </a:endParaRPr>
          </a:p>
        </p:txBody>
      </p:sp>
      <p:sp>
        <p:nvSpPr>
          <p:cNvPr id="5" name="ref-name-1">
            <a:extLst>
              <a:ext uri="{FF2B5EF4-FFF2-40B4-BE49-F238E27FC236}">
                <a16:creationId xmlns:a16="http://schemas.microsoft.com/office/drawing/2014/main" id="{6007F0E2-E89E-4C2B-B1C9-F9972ED83FAB}"/>
              </a:ext>
            </a:extLst>
          </p:cNvPr>
          <p:cNvSpPr>
            <a:spLocks noGrp="1"/>
          </p:cNvSpPr>
          <p:nvPr/>
        </p:nvSpPr>
        <p:spPr>
          <a:xfrm>
            <a:off x="723900" y="2695575"/>
            <a:ext cx="10744200" cy="342900"/>
          </a:xfrm>
          <a:prstGeom prst="rect">
            <a:avLst/>
          </a:prstGeom>
          <a:noFill/>
          <a:ln w="0">
            <a:noFill/>
            <a:prstDash val="solid"/>
          </a:ln>
        </p:spPr>
        <p:txBody>
          <a:bodyPr wrap="square" lIns="0" tIns="0" rIns="0" bIns="0" anchor="t">
            <a:noAutofit/>
          </a:bodyPr>
          <a:lstStyle>
            <a:defPPr algn="l">
              <a:defRPr sz="2025" b="1">
                <a:solidFill>
                  <a:srgbClr val="087F8C"/>
                </a:solidFill>
                <a:latin typeface="Nimbus Sans"/>
                <a:ea typeface="Nimbus Sans"/>
                <a:cs typeface="Nimbus Sans"/>
              </a:defRPr>
            </a:defPPr>
          </a:lstStyle>
          <a:p>
            <a:pPr algn="l">
              <a:defRPr sz="2025" b="1">
                <a:solidFill>
                  <a:srgbClr val="087F8C"/>
                </a:solidFill>
                <a:latin typeface="Nimbus Sans"/>
                <a:ea typeface="Nimbus Sans"/>
                <a:cs typeface="Nimbus Sans"/>
              </a:defRPr>
            </a:pPr>
            <a:r>
              <a:rPr lang="en-CA" sz="2025" b="1" dirty="0" err="1">
                <a:solidFill>
                  <a:srgbClr val="087F8C"/>
                </a:solidFill>
                <a:latin typeface="Nimbus Sans"/>
                <a:ea typeface="Nimbus Sans"/>
                <a:cs typeface="Nimbus Sans"/>
              </a:rPr>
              <a:t>SonarSource</a:t>
            </a:r>
            <a:endParaRPr sz="2025" b="1" dirty="0">
              <a:solidFill>
                <a:srgbClr val="087F8C"/>
              </a:solidFill>
              <a:latin typeface="Nimbus Sans"/>
              <a:ea typeface="Nimbus Sans"/>
              <a:cs typeface="Nimbus Sans"/>
            </a:endParaRPr>
          </a:p>
        </p:txBody>
      </p:sp>
      <p:sp>
        <p:nvSpPr>
          <p:cNvPr id="6" name="ref-description-1">
            <a:extLst>
              <a:ext uri="{FF2B5EF4-FFF2-40B4-BE49-F238E27FC236}">
                <a16:creationId xmlns:a16="http://schemas.microsoft.com/office/drawing/2014/main" id="{64B9ED77-BAF4-4DFF-9166-79F344923B72}"/>
              </a:ext>
            </a:extLst>
          </p:cNvPr>
          <p:cNvSpPr>
            <a:spLocks noGrp="1"/>
          </p:cNvSpPr>
          <p:nvPr/>
        </p:nvSpPr>
        <p:spPr>
          <a:xfrm>
            <a:off x="723900" y="3057525"/>
            <a:ext cx="10744200" cy="314325"/>
          </a:xfrm>
          <a:prstGeom prst="rect">
            <a:avLst/>
          </a:prstGeom>
          <a:noFill/>
          <a:ln w="0">
            <a:noFill/>
            <a:prstDash val="solid"/>
          </a:ln>
        </p:spPr>
        <p:txBody>
          <a:bodyPr wrap="square" lIns="0" tIns="0" rIns="0" bIns="0" anchor="t">
            <a:noAutofit/>
          </a:bodyPr>
          <a:lstStyle>
            <a:defPPr algn="l">
              <a:defRPr sz="1875" b="0">
                <a:solidFill>
                  <a:srgbClr val="132439"/>
                </a:solidFill>
                <a:latin typeface="Nimbus Sans"/>
                <a:ea typeface="Nimbus Sans"/>
                <a:cs typeface="Nimbus Sans"/>
              </a:defRPr>
            </a:defPPr>
          </a:lstStyle>
          <a:p>
            <a:pPr>
              <a:defRPr sz="1875" b="0">
                <a:solidFill>
                  <a:srgbClr val="132439"/>
                </a:solidFill>
                <a:latin typeface="Nimbus Sans"/>
                <a:ea typeface="Nimbus Sans"/>
                <a:cs typeface="Nimbus Sans"/>
              </a:defRPr>
            </a:pPr>
            <a:r>
              <a:rPr lang="en-CA" sz="1875" dirty="0">
                <a:solidFill>
                  <a:srgbClr val="132439"/>
                </a:solidFill>
                <a:latin typeface="Nimbus Sans"/>
              </a:rPr>
              <a:t>State of Code Developer Survey Report</a:t>
            </a:r>
            <a:endParaRPr sz="1875" b="0" dirty="0">
              <a:solidFill>
                <a:srgbClr val="132439"/>
              </a:solidFill>
              <a:latin typeface="Nimbus Sans"/>
              <a:ea typeface="Nimbus Sans"/>
              <a:cs typeface="Nimbus Sans"/>
            </a:endParaRPr>
          </a:p>
        </p:txBody>
      </p:sp>
      <p:sp>
        <p:nvSpPr>
          <p:cNvPr id="7" name="ref-url-1">
            <a:extLst>
              <a:ext uri="{FF2B5EF4-FFF2-40B4-BE49-F238E27FC236}">
                <a16:creationId xmlns:a16="http://schemas.microsoft.com/office/drawing/2014/main" id="{6320F308-F735-4F82-AD10-2F523714A5FC}"/>
              </a:ext>
            </a:extLst>
          </p:cNvPr>
          <p:cNvSpPr>
            <a:spLocks noGrp="1"/>
          </p:cNvSpPr>
          <p:nvPr/>
        </p:nvSpPr>
        <p:spPr>
          <a:xfrm>
            <a:off x="723900" y="3400425"/>
            <a:ext cx="10744200" cy="333375"/>
          </a:xfrm>
          <a:prstGeom prst="rect">
            <a:avLst/>
          </a:prstGeom>
          <a:noFill/>
          <a:ln w="0">
            <a:noFill/>
            <a:prstDash val="solid"/>
          </a:ln>
        </p:spPr>
        <p:txBody>
          <a:bodyPr wrap="square" lIns="0" tIns="0" rIns="0" bIns="0" anchor="t">
            <a:noAutofit/>
          </a:bodyPr>
          <a:lstStyle>
            <a:defPPr algn="l">
              <a:defRPr sz="1350" b="0">
                <a:solidFill>
                  <a:srgbClr val="536477"/>
                </a:solidFill>
                <a:latin typeface="Nimbus Sans"/>
                <a:ea typeface="Nimbus Sans"/>
                <a:cs typeface="Nimbus Sans"/>
              </a:defRPr>
            </a:defPPr>
          </a:lstStyle>
          <a:p>
            <a:pPr>
              <a:defRPr sz="1350" b="0">
                <a:solidFill>
                  <a:srgbClr val="536477"/>
                </a:solidFill>
                <a:latin typeface="Nimbus Sans"/>
                <a:ea typeface="Nimbus Sans"/>
                <a:cs typeface="Nimbus Sans"/>
              </a:defRPr>
            </a:pPr>
            <a:r>
              <a:rPr lang="en-CA" sz="1350" dirty="0">
                <a:solidFill>
                  <a:srgbClr val="536477"/>
                </a:solidFill>
                <a:latin typeface="Nimbus Sans"/>
              </a:rPr>
              <a:t>https://sonarsource.com/state-of-code-developer-survey-report.pdf</a:t>
            </a:r>
            <a:endParaRPr sz="1350" b="0" dirty="0">
              <a:solidFill>
                <a:srgbClr val="536477"/>
              </a:solidFill>
              <a:latin typeface="Nimbus Sans"/>
              <a:ea typeface="Nimbus Sans"/>
              <a:cs typeface="Nimbus Sans"/>
            </a:endParaRPr>
          </a:p>
        </p:txBody>
      </p:sp>
      <p:sp>
        <p:nvSpPr>
          <p:cNvPr id="8" name="ref-name-2">
            <a:extLst>
              <a:ext uri="{FF2B5EF4-FFF2-40B4-BE49-F238E27FC236}">
                <a16:creationId xmlns:a16="http://schemas.microsoft.com/office/drawing/2014/main" id="{E18C7D47-61B3-471E-9B31-D41C9D323349}"/>
              </a:ext>
            </a:extLst>
          </p:cNvPr>
          <p:cNvSpPr>
            <a:spLocks noGrp="1"/>
          </p:cNvSpPr>
          <p:nvPr/>
        </p:nvSpPr>
        <p:spPr>
          <a:xfrm>
            <a:off x="723900" y="3819525"/>
            <a:ext cx="10744200" cy="342900"/>
          </a:xfrm>
          <a:prstGeom prst="rect">
            <a:avLst/>
          </a:prstGeom>
          <a:noFill/>
          <a:ln w="0">
            <a:noFill/>
            <a:prstDash val="solid"/>
          </a:ln>
        </p:spPr>
        <p:txBody>
          <a:bodyPr wrap="square" lIns="0" tIns="0" rIns="0" bIns="0" anchor="t">
            <a:noAutofit/>
          </a:bodyPr>
          <a:lstStyle>
            <a:defPPr algn="l">
              <a:defRPr sz="2025" b="1">
                <a:solidFill>
                  <a:srgbClr val="087F8C"/>
                </a:solidFill>
                <a:latin typeface="Nimbus Sans"/>
                <a:ea typeface="Nimbus Sans"/>
                <a:cs typeface="Nimbus Sans"/>
              </a:defRPr>
            </a:defPPr>
          </a:lstStyle>
          <a:p>
            <a:pPr algn="l">
              <a:defRPr sz="2025" b="1">
                <a:solidFill>
                  <a:srgbClr val="087F8C"/>
                </a:solidFill>
                <a:latin typeface="Nimbus Sans"/>
                <a:ea typeface="Nimbus Sans"/>
                <a:cs typeface="Nimbus Sans"/>
              </a:defRPr>
            </a:pPr>
            <a:r>
              <a:rPr lang="en-CA" sz="2025" b="1" dirty="0">
                <a:solidFill>
                  <a:srgbClr val="087F8C"/>
                </a:solidFill>
                <a:latin typeface="Nimbus Sans"/>
                <a:ea typeface="Nimbus Sans"/>
                <a:cs typeface="Nimbus Sans"/>
              </a:rPr>
              <a:t>Veracode</a:t>
            </a:r>
            <a:endParaRPr sz="2025" b="1" dirty="0">
              <a:solidFill>
                <a:srgbClr val="087F8C"/>
              </a:solidFill>
              <a:latin typeface="Nimbus Sans"/>
              <a:ea typeface="Nimbus Sans"/>
              <a:cs typeface="Nimbus Sans"/>
            </a:endParaRPr>
          </a:p>
        </p:txBody>
      </p:sp>
      <p:sp>
        <p:nvSpPr>
          <p:cNvPr id="9" name="ref-description-2">
            <a:extLst>
              <a:ext uri="{FF2B5EF4-FFF2-40B4-BE49-F238E27FC236}">
                <a16:creationId xmlns:a16="http://schemas.microsoft.com/office/drawing/2014/main" id="{DE362CF0-A256-423A-BAE6-0C38183A5A89}"/>
              </a:ext>
            </a:extLst>
          </p:cNvPr>
          <p:cNvSpPr>
            <a:spLocks noGrp="1"/>
          </p:cNvSpPr>
          <p:nvPr/>
        </p:nvSpPr>
        <p:spPr>
          <a:xfrm>
            <a:off x="723900" y="4181475"/>
            <a:ext cx="10744200" cy="314325"/>
          </a:xfrm>
          <a:prstGeom prst="rect">
            <a:avLst/>
          </a:prstGeom>
          <a:noFill/>
          <a:ln w="0">
            <a:noFill/>
            <a:prstDash val="solid"/>
          </a:ln>
        </p:spPr>
        <p:txBody>
          <a:bodyPr wrap="square" lIns="0" tIns="0" rIns="0" bIns="0" anchor="t">
            <a:noAutofit/>
          </a:bodyPr>
          <a:lstStyle>
            <a:defPPr algn="l">
              <a:defRPr sz="1875" b="0">
                <a:solidFill>
                  <a:srgbClr val="132439"/>
                </a:solidFill>
                <a:latin typeface="Nimbus Sans"/>
                <a:ea typeface="Nimbus Sans"/>
                <a:cs typeface="Nimbus Sans"/>
              </a:defRPr>
            </a:defPPr>
          </a:lstStyle>
          <a:p>
            <a:pPr>
              <a:defRPr sz="1875" b="0">
                <a:solidFill>
                  <a:srgbClr val="132439"/>
                </a:solidFill>
                <a:latin typeface="Nimbus Sans"/>
                <a:ea typeface="Nimbus Sans"/>
                <a:cs typeface="Nimbus Sans"/>
              </a:defRPr>
            </a:pPr>
            <a:r>
              <a:rPr lang="en-CA" sz="1875" dirty="0">
                <a:solidFill>
                  <a:srgbClr val="132439"/>
                </a:solidFill>
                <a:latin typeface="Nimbus Sans"/>
              </a:rPr>
              <a:t>GenAI Code Security Analysis</a:t>
            </a:r>
            <a:endParaRPr sz="1875" b="0" dirty="0">
              <a:solidFill>
                <a:srgbClr val="132439"/>
              </a:solidFill>
              <a:latin typeface="Nimbus Sans"/>
              <a:ea typeface="Nimbus Sans"/>
              <a:cs typeface="Nimbus Sans"/>
            </a:endParaRPr>
          </a:p>
        </p:txBody>
      </p:sp>
      <p:sp>
        <p:nvSpPr>
          <p:cNvPr id="10" name="ref-url-2">
            <a:extLst>
              <a:ext uri="{FF2B5EF4-FFF2-40B4-BE49-F238E27FC236}">
                <a16:creationId xmlns:a16="http://schemas.microsoft.com/office/drawing/2014/main" id="{0DC5C416-13A7-469F-83F3-2A0849808FBF}"/>
              </a:ext>
            </a:extLst>
          </p:cNvPr>
          <p:cNvSpPr>
            <a:spLocks noGrp="1"/>
          </p:cNvSpPr>
          <p:nvPr/>
        </p:nvSpPr>
        <p:spPr>
          <a:xfrm>
            <a:off x="723900" y="4524375"/>
            <a:ext cx="10744200" cy="333375"/>
          </a:xfrm>
          <a:prstGeom prst="rect">
            <a:avLst/>
          </a:prstGeom>
          <a:noFill/>
          <a:ln w="0">
            <a:noFill/>
            <a:prstDash val="solid"/>
          </a:ln>
        </p:spPr>
        <p:txBody>
          <a:bodyPr wrap="square" lIns="0" tIns="0" rIns="0" bIns="0" anchor="t">
            <a:noAutofit/>
          </a:bodyPr>
          <a:lstStyle>
            <a:defPPr algn="l">
              <a:defRPr sz="1350" b="0">
                <a:solidFill>
                  <a:srgbClr val="536477"/>
                </a:solidFill>
                <a:latin typeface="Nimbus Sans"/>
                <a:ea typeface="Nimbus Sans"/>
                <a:cs typeface="Nimbus Sans"/>
              </a:defRPr>
            </a:defPPr>
          </a:lstStyle>
          <a:p>
            <a:pPr>
              <a:defRPr sz="1350" b="0">
                <a:solidFill>
                  <a:srgbClr val="536477"/>
                </a:solidFill>
                <a:latin typeface="Nimbus Sans"/>
                <a:ea typeface="Nimbus Sans"/>
                <a:cs typeface="Nimbus Sans"/>
              </a:defRPr>
            </a:pPr>
            <a:r>
              <a:rPr lang="en-CA" sz="1350" dirty="0">
                <a:solidFill>
                  <a:srgbClr val="536477"/>
                </a:solidFill>
                <a:latin typeface="Nimbus Sans"/>
              </a:rPr>
              <a:t>https://veracode.com/blog/2026-genai-code-security-report-ai-risk/</a:t>
            </a:r>
            <a:endParaRPr sz="1350" b="0" dirty="0">
              <a:solidFill>
                <a:srgbClr val="536477"/>
              </a:solidFill>
              <a:latin typeface="Nimbus Sans"/>
              <a:ea typeface="Nimbus Sans"/>
              <a:cs typeface="Nimbus Sans"/>
            </a:endParaRPr>
          </a:p>
        </p:txBody>
      </p:sp>
      <p:sp>
        <p:nvSpPr>
          <p:cNvPr id="14" name="source">
            <a:extLst>
              <a:ext uri="{FF2B5EF4-FFF2-40B4-BE49-F238E27FC236}">
                <a16:creationId xmlns:a16="http://schemas.microsoft.com/office/drawing/2014/main" id="{F2D61E02-CAFB-42AF-B20E-994AF8CB7F9F}"/>
              </a:ext>
            </a:extLst>
          </p:cNvPr>
          <p:cNvSpPr>
            <a:spLocks noGrp="1"/>
          </p:cNvSpPr>
          <p:nvPr/>
        </p:nvSpPr>
        <p:spPr>
          <a:xfrm>
            <a:off x="704850" y="6324600"/>
            <a:ext cx="10782300" cy="247650"/>
          </a:xfrm>
          <a:prstGeom prst="rect">
            <a:avLst/>
          </a:prstGeom>
          <a:noFill/>
          <a:ln w="0">
            <a:noFill/>
            <a:prstDash val="solid"/>
          </a:ln>
        </p:spPr>
        <p:txBody>
          <a:bodyPr wrap="square" lIns="0" tIns="0" rIns="0" bIns="0" anchor="t">
            <a:noAutofit/>
          </a:bodyPr>
          <a:lstStyle>
            <a:defPPr algn="l">
              <a:defRPr sz="1275" b="0">
                <a:solidFill>
                  <a:srgbClr val="536477"/>
                </a:solidFill>
                <a:latin typeface="Nimbus Sans"/>
                <a:ea typeface="Nimbus Sans"/>
                <a:cs typeface="Nimbus Sans"/>
              </a:defRPr>
            </a:defPPr>
          </a:lstStyle>
          <a:p>
            <a:pPr algn="l">
              <a:defRPr sz="1275" b="0">
                <a:solidFill>
                  <a:srgbClr val="536477"/>
                </a:solidFill>
                <a:latin typeface="Nimbus Sans"/>
                <a:ea typeface="Nimbus Sans"/>
                <a:cs typeface="Nimbus Sans"/>
              </a:defRPr>
            </a:pPr>
            <a:r>
              <a:rPr sz="1275" b="0">
                <a:solidFill>
                  <a:srgbClr val="536477"/>
                </a:solidFill>
                <a:latin typeface="Nimbus Sans"/>
                <a:ea typeface="Nimbus Sans"/>
                <a:cs typeface="Nimbus Sans"/>
              </a:rPr>
              <a:t>Sources checked 17 October 2026 UTC. Full links and image credits appear in the slide notes.</a:t>
            </a:r>
          </a:p>
        </p:txBody>
      </p:sp>
    </p:spTree>
    <p:extLst>
      <p:ext uri="{BB962C8B-B14F-4D97-AF65-F5344CB8AC3E}">
        <p14:creationId xmlns:p14="http://schemas.microsoft.com/office/powerpoint/2010/main" val="13417405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TotalTime>
  <Words>724</Words>
  <Application>Microsoft Office PowerPoint</Application>
  <PresentationFormat>Widescreen</PresentationFormat>
  <Paragraphs>82</Paragraphs>
  <Slides>4</Slides>
  <Notes>4</Notes>
  <HiddenSlides>1</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Nimbus Sans</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Sebastian Gonzalez</dc:creator>
  <cp:lastModifiedBy>Sebastian Gonzalez</cp:lastModifiedBy>
  <cp:revision>2</cp:revision>
  <dcterms:created xsi:type="dcterms:W3CDTF">2026-10-17T19:16:50Z</dcterms:created>
  <dcterms:modified xsi:type="dcterms:W3CDTF">2026-10-18T17:57:00Z</dcterms:modified>
</cp:coreProperties>
</file>